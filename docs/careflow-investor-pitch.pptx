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CareFlow is pretriage routing, not diagnosis. Rules map spoken or typed symptoms to a minimum KEPH level, then rank facilities by the wait number the facility itself types, then by distance, then let the family book so the desk sees them coming.
Objection: is this just another health app? Answer: the wedge is before the door. Teleconsult apps replace a consultation; booking marketplaces sell appointments at a facility the family already chose. CareFlow changes which facility level the family walks into, and hands the hospital a named arrival it can plan for. That is load-shifting, not consultation.
No numbers on this slide, so no sources needed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up to 84.3% self-referral / primary health care bypass — Abere, cited in the 2024 Bungoma County Referral Hospital work on self-referral.
Objection: bypass is driven by commodity stockouts, not ignorance — so routing people down a level will fail. Answer: agreed, and it constrains the design. Ranking must not be KEPH-label-only. Readiness and commodity availability have to pull weight in the ranking, otherwise families will keep going up and they will be right to. That is why the next slide pairs supply with readiness rather than celebrating facility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81% of emergency department patients CTAS 4–5 and 76.5% waiting longer than 30 minutes (23.5% seen within 30 minutes) — Mwaura et al., Aga Khan University Hospital Nairobi, PLOS One 2025, n=941. Mbagathi County Referral Hospital: approximately 200% occupancy and about 1,000 outpatients per day, operational statistics. Supporting figure held in reserve: 43.8% of that AKUHN cohort was self-referred.
Objection: AKUHN is a private tertiary hospital, so this is not the public system. Answer: that is the point — even a well-resourced ED is dominated by low-acuity presentations, so the crowding is a routing failure rather than a resourcing failure. Mbagathi is the public referral counterpart and shows the same demand landing on a facility already over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Kenya Health Facility Census 2023, n=12,384 — 71% of facilities are Level 2 dispensaries, roughly 20% Level 3 and 7% Level 4; only 7% have basic outpatient service readiness; only 2% offer all 16 basic services. Ownership split in the same census: 47% public, 46% private, 8% faith-based.
Objection: you are routing families to empty buildings. Answer: correct risk, and it is why readiness is a first-class input rather than a footnote. CareFlow must never treat a KEPH level as a capability claim; the ranking has to degrade a facility that cannot deliver the service, and the desk-typed wait number is the first honest signal we can get from the facility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Singapore virtual care centre — 69% avoidance of an emergency department visit within 72 hours and 4.9% undertriage, JMIR Formative Research 2026. Label it out loud as an analog, not a Kenya randomised controlled trial. In-ED comparators: ETAT and Smart Triage (see the safety slide). Referral enforcement at Kenyatta National Hospital reduced direct Level 2–3 referrals, but reactively, at the door.
Landscape whitespace [Likely]: no public product we can find combines community-entered symptoms, a KEPH minimum level, wait plus distance ranking, a booking, and an arrived/no-show close. Adjacent products worth naming in the room if asked, each as not-the-wedge: national digital-health and insurance rails, private booking marketplaces such as Vezeeta and Ponea, and teleconsult apps.
Objection: health tech in Kenya is crowded. Answer: it is, and we are not claiming there are no competitors. We are claiming none of those products occupies the before-the-door position. Marketplaces book the facility the family already picked; teleconsult replaces the visit; the rails move claims and records. None of them changes which KEPH level the family walks into or closes the loop with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docs/product-map/03-end-to-end.md and 05-invariants.md. No external statistics on this slide.
Objection: why force a booking — is that not friction? Answer: the booking is the join. Without it the hospital cannot tell a CareFlow arrival from a stranger, the desk has no reason to keep the wait number honest, and the wait numbers rot within days. Booking is what turns a recommendation into named incoming load, and the arrived/no-show close is what makes the next family's ranking true.
Second objection: does the red-flag path not defeat wait-ranking? Answer: yes, deliberately. A red flag stops ranking entirely and sends the family to the nearest KEPH 4+ facility regardless of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docs/product-map/01-language.md and 06-scenarios.md. One PWA; the role is chosen after consent, so a phone can be a care-seeker device today and a desk device tomorrow. No external statistics on this slide.
Objection: most of the households you are describing are on feature phones. Answer: the SMS step is the answer, not an afterthought. Whoever holds the smartphone runs the pretriage, and the SMS carries the facility, the level and the slot to the family member who will actually travel. Voice-first input keeps the app usable for someone who will not type a symptom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docs/product-map/02-two-sides.md and 04-queue-and-bookings.md. The wait figure is a number hospital staff type, not a live feed from a hospital information system. No external statistics on this slide.
Objection: busy desk staff will never keep typing a wait number. Answer: if they do not, the ranking is fiction and we should know that in a pilot rather than after a launch. That is why the desk gets something it wants in return — a named list of who is coming today, and a one-tap arrived/no-show that closes the row. Walk-ins are the majority today and they are invisible to any ranking unless a human tells us the queue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ETAT mortality sensitivity 51% versus Smart Triage 79.6% — Kamau et al., PLOS Digital Health 2024, n=5,618 children under 15 at two Kenyan public hospitals. Cite it as evidence that in-facility triage already misses cases, not as a benchmark CareFlow claims to clear.
Objection: your rules will undertriage people. Answer: we do not claim to outperform Smart Triage and we do not run a model that could quietly downgrade a case. CareFlow refuses diagnosis, uses a conservative red-flag rule set, and on any red flag sends the family to the nearest KEPH 4+ facility with wait ignored. The cost of that choice is over-routing, which is a measurable pilot metric rather than a hidden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peak demand on Monday, 08:00–12:00 — Mwaura et al., AKUHN, PLOS One 2025. One-way SMS reminders and appointment attendance in Africa, odds ratio 2.03 — PLOS One 2019 meta-analysis. Kenya antenatal care missed appointments 35–42% — Homabay and Kisumu studies plus systematic reviews.
Objection: who actually pays for this? Answer: not national insurance in this pass — that is deliberately deferred. The first budget we test is county and facility, where the pain is measurable: low-acuity load arriving at the wrong level, a peak window that is predictable enough to shift, and an SMS channel with published evidence that it improves attendance. Monetisation stays labelled as a hypothesis until a pilot prices it. We are not presenting a market-size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status, say it plainly if asked: Specified Kenya MVP; local FastAPI + Next.js PWA slice. Not a deployed production service. No live national facility-registry sync, no bookings running in production, no production hosting.
Next evidence: county pilots that measure diverted low-acuity load, and a 72-hour adverse-outcome / safety KPI — taken from the Singapore virtual care centre analog (JMIR Formative Research 2026) and still to be measured in Kenya.
Objection: show me traction. Answer: we will not invent it. There are no users, no revenue and no deployment to quote. What we have is a locked product specification, a working local slice of the loop, and a claim set drawn entirely from published Kenyan evidence. The ask is pilots that measure two things: how much low-acuity load moves, and whether anyone is harmed within 72 hours of a routing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1E"/>
        </a:solidFill>
      </p:bgPr>
    </p:bg>
    <p:spTree>
      <p:nvGrpSpPr>
        <p:cNvPr id="1" name=""/>
        <p:cNvGrpSpPr/>
        <p:nvPr/>
      </p:nvGrpSpPr>
      <p:grpSpPr>
        <a:xfrm>
          <a:off x="0" y="0"/>
          <a:ext cx="0" cy="0"/>
          <a:chOff x="0" y="0"/>
          <a:chExt cx="0" cy="0"/>
        </a:xfrm>
      </p:grpSpPr>
      <p:sp>
        <p:nvSpPr>
          <p:cNvPr id="2" name="Text 0"/>
          <p:cNvSpPr/>
          <p:nvPr/>
        </p:nvSpPr>
        <p:spPr>
          <a:xfrm>
            <a:off x="731520" y="1417320"/>
            <a:ext cx="6675120" cy="1234440"/>
          </a:xfrm>
          <a:prstGeom prst="rect">
            <a:avLst/>
          </a:prstGeom>
          <a:noFill/>
          <a:ln/>
        </p:spPr>
        <p:txBody>
          <a:bodyPr wrap="square" lIns="0" tIns="0" rIns="0" bIns="0" rtlCol="0" anchor="t"/>
          <a:lstStyle/>
          <a:p>
            <a:pPr algn="l" indent="0" marL="0">
              <a:buNone/>
            </a:pPr>
            <a:r>
              <a:rPr lang="en-US" sz="6800" b="1" dirty="0">
                <a:solidFill>
                  <a:srgbClr val="F4F7F6"/>
                </a:solidFill>
                <a:latin typeface="Cambria" pitchFamily="34" charset="0"/>
                <a:ea typeface="Cambria" pitchFamily="34" charset="-122"/>
                <a:cs typeface="Cambria" pitchFamily="34" charset="-120"/>
              </a:rPr>
              <a:t>CareFlow</a:t>
            </a:r>
            <a:endParaRPr lang="en-US" sz="6800" dirty="0"/>
          </a:p>
        </p:txBody>
      </p:sp>
      <p:sp>
        <p:nvSpPr>
          <p:cNvPr id="3" name="Text 1"/>
          <p:cNvSpPr/>
          <p:nvPr/>
        </p:nvSpPr>
        <p:spPr>
          <a:xfrm>
            <a:off x="731520" y="2788920"/>
            <a:ext cx="6675120" cy="1371600"/>
          </a:xfrm>
          <a:prstGeom prst="rect">
            <a:avLst/>
          </a:prstGeom>
          <a:noFill/>
          <a:ln/>
        </p:spPr>
        <p:txBody>
          <a:bodyPr wrap="square" lIns="0" tIns="0" rIns="0" bIns="0" rtlCol="0" anchor="t"/>
          <a:lstStyle/>
          <a:p>
            <a:pPr algn="l" indent="0" marL="0">
              <a:lnSpc>
                <a:spcPct val="120000"/>
              </a:lnSpc>
              <a:buNone/>
            </a:pPr>
            <a:r>
              <a:rPr lang="en-US" sz="2000" dirty="0">
                <a:solidFill>
                  <a:srgbClr val="C5D4CF"/>
                </a:solidFill>
                <a:latin typeface="Calibri" pitchFamily="34" charset="0"/>
                <a:ea typeface="Calibri" pitchFamily="34" charset="-122"/>
                <a:cs typeface="Calibri" pitchFamily="34" charset="-120"/>
              </a:rPr>
              <a:t>Map to the right KEPH level, the shortest hospital-reported wait, and book — before the door.</a:t>
            </a:r>
            <a:endParaRPr lang="en-US" sz="2000" dirty="0"/>
          </a:p>
        </p:txBody>
      </p:sp>
      <p:sp>
        <p:nvSpPr>
          <p:cNvPr id="4" name="Text 2"/>
          <p:cNvSpPr/>
          <p:nvPr/>
        </p:nvSpPr>
        <p:spPr>
          <a:xfrm>
            <a:off x="731520" y="4343400"/>
            <a:ext cx="6675120" cy="320040"/>
          </a:xfrm>
          <a:prstGeom prst="rect">
            <a:avLst/>
          </a:prstGeom>
          <a:noFill/>
          <a:ln/>
        </p:spPr>
        <p:txBody>
          <a:bodyPr wrap="square" lIns="0" tIns="0" rIns="0" bIns="0" rtlCol="0" anchor="t"/>
          <a:lstStyle/>
          <a:p>
            <a:pPr algn="l" indent="0" marL="0">
              <a:buNone/>
            </a:pPr>
            <a:r>
              <a:rPr lang="en-US" sz="1300" b="1" spc="240" kern="0" dirty="0">
                <a:solidFill>
                  <a:srgbClr val="F4F7F6"/>
                </a:solidFill>
                <a:latin typeface="Calibri" pitchFamily="34" charset="0"/>
                <a:ea typeface="Calibri" pitchFamily="34" charset="-122"/>
                <a:cs typeface="Calibri" pitchFamily="34" charset="-120"/>
              </a:rPr>
              <a:t>KENYA HOSPITAL PRETRIAGE</a:t>
            </a:r>
            <a:endParaRPr lang="en-US" sz="1300" dirty="0"/>
          </a:p>
        </p:txBody>
      </p:sp>
      <p:sp>
        <p:nvSpPr>
          <p:cNvPr id="5" name="Shape 3"/>
          <p:cNvSpPr/>
          <p:nvPr/>
        </p:nvSpPr>
        <p:spPr>
          <a:xfrm>
            <a:off x="7955280" y="1554480"/>
            <a:ext cx="3566160" cy="1097280"/>
          </a:xfrm>
          <a:prstGeom prst="roundRect">
            <a:avLst>
              <a:gd name="adj" fmla="val 11667"/>
            </a:avLst>
          </a:prstGeom>
          <a:solidFill>
            <a:srgbClr val="0F5C4C"/>
          </a:solidFill>
          <a:ln/>
          <a:effectLst>
            <a:outerShdw sx="100000" sy="100000" kx="0" ky="0" algn="bl" rotWithShape="0" blurRad="127000" dist="25400" dir="5400000">
              <a:srgbClr val="14211e">
                <a:alpha val="10000"/>
              </a:srgbClr>
            </a:outerShdw>
          </a:effectLst>
        </p:spPr>
      </p:sp>
      <p:sp>
        <p:nvSpPr>
          <p:cNvPr id="6" name="Text 4"/>
          <p:cNvSpPr/>
          <p:nvPr/>
        </p:nvSpPr>
        <p:spPr>
          <a:xfrm>
            <a:off x="8229600" y="1728216"/>
            <a:ext cx="3017520" cy="301752"/>
          </a:xfrm>
          <a:prstGeom prst="rect">
            <a:avLst/>
          </a:prstGeom>
          <a:noFill/>
          <a:ln/>
        </p:spPr>
        <p:txBody>
          <a:bodyPr wrap="square" lIns="0" tIns="0" rIns="0" bIns="0" rtlCol="0" anchor="t"/>
          <a:lstStyle/>
          <a:p>
            <a:pPr algn="l" indent="0" marL="0">
              <a:buNone/>
            </a:pPr>
            <a:r>
              <a:rPr lang="en-US" sz="1500" b="1" dirty="0">
                <a:solidFill>
                  <a:srgbClr val="F4F7F6"/>
                </a:solidFill>
                <a:latin typeface="Calibri" pitchFamily="34" charset="0"/>
                <a:ea typeface="Calibri" pitchFamily="34" charset="-122"/>
                <a:cs typeface="Calibri" pitchFamily="34" charset="-120"/>
              </a:rPr>
              <a:t>Right KEPH level</a:t>
            </a:r>
            <a:endParaRPr lang="en-US" sz="1500" dirty="0"/>
          </a:p>
        </p:txBody>
      </p:sp>
      <p:sp>
        <p:nvSpPr>
          <p:cNvPr id="7" name="Text 5"/>
          <p:cNvSpPr/>
          <p:nvPr/>
        </p:nvSpPr>
        <p:spPr>
          <a:xfrm>
            <a:off x="8229600" y="2075688"/>
            <a:ext cx="3017520" cy="457200"/>
          </a:xfrm>
          <a:prstGeom prst="rect">
            <a:avLst/>
          </a:prstGeom>
          <a:noFill/>
          <a:ln/>
        </p:spPr>
        <p:txBody>
          <a:bodyPr wrap="square" lIns="0" tIns="0" rIns="0" bIns="0" rtlCol="0" anchor="t"/>
          <a:lstStyle/>
          <a:p>
            <a:pPr algn="l" indent="0" marL="0">
              <a:lnSpc>
                <a:spcPct val="105000"/>
              </a:lnSpc>
              <a:buNone/>
            </a:pPr>
            <a:r>
              <a:rPr lang="en-US" sz="1150" dirty="0">
                <a:solidFill>
                  <a:srgbClr val="C5D4CF"/>
                </a:solidFill>
                <a:latin typeface="Calibri" pitchFamily="34" charset="0"/>
                <a:ea typeface="Calibri" pitchFamily="34" charset="-122"/>
                <a:cs typeface="Calibri" pitchFamily="34" charset="-120"/>
              </a:rPr>
              <a:t>Rules pick the level, not a hospital brand</a:t>
            </a:r>
            <a:endParaRPr lang="en-US" sz="1150" dirty="0"/>
          </a:p>
        </p:txBody>
      </p:sp>
      <p:sp>
        <p:nvSpPr>
          <p:cNvPr id="8" name="Shape 6"/>
          <p:cNvSpPr/>
          <p:nvPr/>
        </p:nvSpPr>
        <p:spPr>
          <a:xfrm>
            <a:off x="7955280" y="2852928"/>
            <a:ext cx="3566160" cy="1097280"/>
          </a:xfrm>
          <a:prstGeom prst="roundRect">
            <a:avLst>
              <a:gd name="adj" fmla="val 11667"/>
            </a:avLst>
          </a:prstGeom>
          <a:solidFill>
            <a:srgbClr val="0F5C4C"/>
          </a:solidFill>
          <a:ln/>
          <a:effectLst>
            <a:outerShdw sx="100000" sy="100000" kx="0" ky="0" algn="bl" rotWithShape="0" blurRad="127000" dist="25400" dir="5400000">
              <a:srgbClr val="14211e">
                <a:alpha val="10000"/>
              </a:srgbClr>
            </a:outerShdw>
          </a:effectLst>
        </p:spPr>
      </p:sp>
      <p:sp>
        <p:nvSpPr>
          <p:cNvPr id="9" name="Text 7"/>
          <p:cNvSpPr/>
          <p:nvPr/>
        </p:nvSpPr>
        <p:spPr>
          <a:xfrm>
            <a:off x="8229600" y="3026664"/>
            <a:ext cx="3017520" cy="301752"/>
          </a:xfrm>
          <a:prstGeom prst="rect">
            <a:avLst/>
          </a:prstGeom>
          <a:noFill/>
          <a:ln/>
        </p:spPr>
        <p:txBody>
          <a:bodyPr wrap="square" lIns="0" tIns="0" rIns="0" bIns="0" rtlCol="0" anchor="t"/>
          <a:lstStyle/>
          <a:p>
            <a:pPr algn="l" indent="0" marL="0">
              <a:buNone/>
            </a:pPr>
            <a:r>
              <a:rPr lang="en-US" sz="1500" b="1" dirty="0">
                <a:solidFill>
                  <a:srgbClr val="F4F7F6"/>
                </a:solidFill>
                <a:latin typeface="Calibri" pitchFamily="34" charset="0"/>
                <a:ea typeface="Calibri" pitchFamily="34" charset="-122"/>
                <a:cs typeface="Calibri" pitchFamily="34" charset="-120"/>
              </a:rPr>
              <a:t>Shortest reported wait</a:t>
            </a:r>
            <a:endParaRPr lang="en-US" sz="1500" dirty="0"/>
          </a:p>
        </p:txBody>
      </p:sp>
      <p:sp>
        <p:nvSpPr>
          <p:cNvPr id="10" name="Text 8"/>
          <p:cNvSpPr/>
          <p:nvPr/>
        </p:nvSpPr>
        <p:spPr>
          <a:xfrm>
            <a:off x="8229600" y="3374136"/>
            <a:ext cx="3017520" cy="457200"/>
          </a:xfrm>
          <a:prstGeom prst="rect">
            <a:avLst/>
          </a:prstGeom>
          <a:noFill/>
          <a:ln/>
        </p:spPr>
        <p:txBody>
          <a:bodyPr wrap="square" lIns="0" tIns="0" rIns="0" bIns="0" rtlCol="0" anchor="t"/>
          <a:lstStyle/>
          <a:p>
            <a:pPr algn="l" indent="0" marL="0">
              <a:lnSpc>
                <a:spcPct val="105000"/>
              </a:lnSpc>
              <a:buNone/>
            </a:pPr>
            <a:r>
              <a:rPr lang="en-US" sz="1150" dirty="0">
                <a:solidFill>
                  <a:srgbClr val="C5D4CF"/>
                </a:solidFill>
                <a:latin typeface="Calibri" pitchFamily="34" charset="0"/>
                <a:ea typeface="Calibri" pitchFamily="34" charset="-122"/>
                <a:cs typeface="Calibri" pitchFamily="34" charset="-120"/>
              </a:rPr>
              <a:t>Facility-typed people waiting, then distance</a:t>
            </a:r>
            <a:endParaRPr lang="en-US" sz="1150" dirty="0"/>
          </a:p>
        </p:txBody>
      </p:sp>
      <p:sp>
        <p:nvSpPr>
          <p:cNvPr id="11" name="Shape 9"/>
          <p:cNvSpPr/>
          <p:nvPr/>
        </p:nvSpPr>
        <p:spPr>
          <a:xfrm>
            <a:off x="7955280" y="4151376"/>
            <a:ext cx="3566160" cy="1097280"/>
          </a:xfrm>
          <a:prstGeom prst="roundRect">
            <a:avLst>
              <a:gd name="adj" fmla="val 11667"/>
            </a:avLst>
          </a:prstGeom>
          <a:solidFill>
            <a:srgbClr val="0F5C4C"/>
          </a:solidFill>
          <a:ln/>
          <a:effectLst>
            <a:outerShdw sx="100000" sy="100000" kx="0" ky="0" algn="bl" rotWithShape="0" blurRad="127000" dist="25400" dir="5400000">
              <a:srgbClr val="14211e">
                <a:alpha val="10000"/>
              </a:srgbClr>
            </a:outerShdw>
          </a:effectLst>
        </p:spPr>
      </p:sp>
      <p:sp>
        <p:nvSpPr>
          <p:cNvPr id="12" name="Text 10"/>
          <p:cNvSpPr/>
          <p:nvPr/>
        </p:nvSpPr>
        <p:spPr>
          <a:xfrm>
            <a:off x="8229600" y="4325112"/>
            <a:ext cx="3017520" cy="301752"/>
          </a:xfrm>
          <a:prstGeom prst="rect">
            <a:avLst/>
          </a:prstGeom>
          <a:noFill/>
          <a:ln/>
        </p:spPr>
        <p:txBody>
          <a:bodyPr wrap="square" lIns="0" tIns="0" rIns="0" bIns="0" rtlCol="0" anchor="t"/>
          <a:lstStyle/>
          <a:p>
            <a:pPr algn="l" indent="0" marL="0">
              <a:buNone/>
            </a:pPr>
            <a:r>
              <a:rPr lang="en-US" sz="1500" b="1" dirty="0">
                <a:solidFill>
                  <a:srgbClr val="F4F7F6"/>
                </a:solidFill>
                <a:latin typeface="Calibri" pitchFamily="34" charset="0"/>
                <a:ea typeface="Calibri" pitchFamily="34" charset="-122"/>
                <a:cs typeface="Calibri" pitchFamily="34" charset="-120"/>
              </a:rPr>
              <a:t>Booked before arrival</a:t>
            </a:r>
            <a:endParaRPr lang="en-US" sz="1500" dirty="0"/>
          </a:p>
        </p:txBody>
      </p:sp>
      <p:sp>
        <p:nvSpPr>
          <p:cNvPr id="13" name="Text 11"/>
          <p:cNvSpPr/>
          <p:nvPr/>
        </p:nvSpPr>
        <p:spPr>
          <a:xfrm>
            <a:off x="8229600" y="4672584"/>
            <a:ext cx="3017520" cy="457200"/>
          </a:xfrm>
          <a:prstGeom prst="rect">
            <a:avLst/>
          </a:prstGeom>
          <a:noFill/>
          <a:ln/>
        </p:spPr>
        <p:txBody>
          <a:bodyPr wrap="square" lIns="0" tIns="0" rIns="0" bIns="0" rtlCol="0" anchor="t"/>
          <a:lstStyle/>
          <a:p>
            <a:pPr algn="l" indent="0" marL="0">
              <a:lnSpc>
                <a:spcPct val="105000"/>
              </a:lnSpc>
              <a:buNone/>
            </a:pPr>
            <a:r>
              <a:rPr lang="en-US" sz="1150" dirty="0">
                <a:solidFill>
                  <a:srgbClr val="C5D4CF"/>
                </a:solidFill>
                <a:latin typeface="Calibri" pitchFamily="34" charset="0"/>
                <a:ea typeface="Calibri" pitchFamily="34" charset="-122"/>
                <a:cs typeface="Calibri" pitchFamily="34" charset="-120"/>
              </a:rPr>
              <a:t>Named incoming load, confirmed by SMS</a:t>
            </a:r>
            <a:endParaRPr lang="en-US" sz="1150" dirty="0"/>
          </a:p>
        </p:txBody>
      </p:sp>
      <p:sp>
        <p:nvSpPr>
          <p:cNvPr id="14" name="Text 12"/>
          <p:cNvSpPr/>
          <p:nvPr/>
        </p:nvSpPr>
        <p:spPr>
          <a:xfrm>
            <a:off x="731520" y="5760720"/>
            <a:ext cx="6675120" cy="320040"/>
          </a:xfrm>
          <a:prstGeom prst="rect">
            <a:avLst/>
          </a:prstGeom>
          <a:noFill/>
          <a:ln/>
        </p:spPr>
        <p:txBody>
          <a:bodyPr wrap="square" lIns="0" tIns="0" rIns="0" bIns="0" rtlCol="0" anchor="t"/>
          <a:lstStyle/>
          <a:p>
            <a:pPr algn="l" indent="0" marL="0">
              <a:buNone/>
            </a:pPr>
            <a:r>
              <a:rPr lang="en-US" sz="1300" i="1" dirty="0">
                <a:solidFill>
                  <a:srgbClr val="C5D4CF"/>
                </a:solidFill>
                <a:latin typeface="Calibri" pitchFamily="34" charset="0"/>
                <a:ea typeface="Calibri" pitchFamily="34" charset="-122"/>
                <a:cs typeface="Calibri" pitchFamily="34" charset="-120"/>
              </a:rPr>
              <a:t>Before the door — not another teleconsult 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THE WRONG FACILITY</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Families arrive at the wrong facility</a:t>
            </a:r>
            <a:endParaRPr lang="en-US" sz="3800" dirty="0"/>
          </a:p>
        </p:txBody>
      </p:sp>
      <p:sp>
        <p:nvSpPr>
          <p:cNvPr id="4" name="Text 2"/>
          <p:cNvSpPr/>
          <p:nvPr/>
        </p:nvSpPr>
        <p:spPr>
          <a:xfrm>
            <a:off x="548640" y="1783080"/>
            <a:ext cx="6400800" cy="1188720"/>
          </a:xfrm>
          <a:prstGeom prst="rect">
            <a:avLst/>
          </a:prstGeom>
          <a:noFill/>
          <a:ln/>
        </p:spPr>
        <p:txBody>
          <a:bodyPr wrap="square" lIns="0" tIns="0" rIns="0" bIns="0" rtlCol="0" anchor="t"/>
          <a:lstStyle/>
          <a:p>
            <a:pPr algn="l" indent="0" marL="0">
              <a:buNone/>
            </a:pPr>
            <a:r>
              <a:rPr lang="en-US" sz="7200" b="1" dirty="0">
                <a:solidFill>
                  <a:srgbClr val="0F5C4C"/>
                </a:solidFill>
                <a:latin typeface="Cambria" pitchFamily="34" charset="0"/>
                <a:ea typeface="Cambria" pitchFamily="34" charset="-122"/>
                <a:cs typeface="Cambria" pitchFamily="34" charset="-120"/>
              </a:rPr>
              <a:t>Up to 84.3%</a:t>
            </a:r>
            <a:endParaRPr lang="en-US" sz="7200" dirty="0"/>
          </a:p>
        </p:txBody>
      </p:sp>
      <p:sp>
        <p:nvSpPr>
          <p:cNvPr id="5" name="Text 3"/>
          <p:cNvSpPr/>
          <p:nvPr/>
        </p:nvSpPr>
        <p:spPr>
          <a:xfrm>
            <a:off x="548640" y="2999232"/>
            <a:ext cx="6400800" cy="365760"/>
          </a:xfrm>
          <a:prstGeom prst="rect">
            <a:avLst/>
          </a:prstGeom>
          <a:noFill/>
          <a:ln/>
        </p:spPr>
        <p:txBody>
          <a:bodyPr wrap="square" lIns="0" tIns="0" rIns="0" bIns="0" rtlCol="0" anchor="t"/>
          <a:lstStyle/>
          <a:p>
            <a:pPr algn="l" indent="0" marL="0">
              <a:buNone/>
            </a:pPr>
            <a:r>
              <a:rPr lang="en-US" sz="1800" b="1" dirty="0">
                <a:solidFill>
                  <a:srgbClr val="14211E"/>
                </a:solidFill>
                <a:latin typeface="Calibri" pitchFamily="34" charset="0"/>
                <a:ea typeface="Calibri" pitchFamily="34" charset="-122"/>
                <a:cs typeface="Calibri" pitchFamily="34" charset="-120"/>
              </a:rPr>
              <a:t>self-referral / primary-care bypass</a:t>
            </a:r>
            <a:endParaRPr lang="en-US" sz="1800" dirty="0"/>
          </a:p>
        </p:txBody>
      </p:sp>
      <p:sp>
        <p:nvSpPr>
          <p:cNvPr id="6" name="Text 4"/>
          <p:cNvSpPr/>
          <p:nvPr/>
        </p:nvSpPr>
        <p:spPr>
          <a:xfrm>
            <a:off x="548640" y="3520440"/>
            <a:ext cx="6309360" cy="1463040"/>
          </a:xfrm>
          <a:prstGeom prst="rect">
            <a:avLst/>
          </a:prstGeom>
          <a:noFill/>
          <a:ln/>
        </p:spPr>
        <p:txBody>
          <a:bodyPr wrap="square" lIns="0" tIns="0" rIns="0" bIns="0" rtlCol="0" anchor="t"/>
          <a:lstStyle/>
          <a:p>
            <a:pPr algn="l" indent="0" marL="0">
              <a:lnSpc>
                <a:spcPct val="118000"/>
              </a:lnSpc>
              <a:buNone/>
            </a:pPr>
            <a:r>
              <a:rPr lang="en-US" sz="1500" dirty="0">
                <a:solidFill>
                  <a:srgbClr val="3D524C"/>
                </a:solidFill>
                <a:latin typeface="Calibri" pitchFamily="34" charset="0"/>
                <a:ea typeface="Calibri" pitchFamily="34" charset="-122"/>
                <a:cs typeface="Calibri" pitchFamily="34" charset="-120"/>
              </a:rPr>
              <a:t>Families skip the Level 2–3 facility next door and travel to a louder, higher-level hospital. The system pays twice: the nearby capacity idles, and the referral hospital absorbs demand it was never built for.</a:t>
            </a:r>
            <a:endParaRPr lang="en-US" sz="1500" dirty="0"/>
          </a:p>
        </p:txBody>
      </p:sp>
      <p:sp>
        <p:nvSpPr>
          <p:cNvPr id="7" name="Shape 5"/>
          <p:cNvSpPr/>
          <p:nvPr/>
        </p:nvSpPr>
        <p:spPr>
          <a:xfrm>
            <a:off x="7223760" y="1737360"/>
            <a:ext cx="4389120" cy="3566160"/>
          </a:xfrm>
          <a:prstGeom prst="roundRect">
            <a:avLst>
              <a:gd name="adj" fmla="val 3590"/>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8" name="Text 6"/>
          <p:cNvSpPr/>
          <p:nvPr/>
        </p:nvSpPr>
        <p:spPr>
          <a:xfrm>
            <a:off x="7498080" y="1965960"/>
            <a:ext cx="3840480" cy="274320"/>
          </a:xfrm>
          <a:prstGeom prst="rect">
            <a:avLst/>
          </a:prstGeom>
          <a:noFill/>
          <a:ln/>
        </p:spPr>
        <p:txBody>
          <a:bodyPr wrap="square" lIns="0" tIns="0" rIns="0" bIns="0" rtlCol="0" anchor="t"/>
          <a:lstStyle/>
          <a:p>
            <a:pPr algn="l" indent="0" marL="0">
              <a:buNone/>
            </a:pPr>
            <a:r>
              <a:rPr lang="en-US" sz="1150" b="1" spc="140" kern="0" dirty="0">
                <a:solidFill>
                  <a:srgbClr val="0F5C4C"/>
                </a:solidFill>
                <a:latin typeface="Calibri" pitchFamily="34" charset="0"/>
                <a:ea typeface="Calibri" pitchFamily="34" charset="-122"/>
                <a:cs typeface="Calibri" pitchFamily="34" charset="-120"/>
              </a:rPr>
              <a:t>WHAT BYPASS LOOKS LIKE</a:t>
            </a:r>
            <a:endParaRPr lang="en-US" sz="1150" dirty="0"/>
          </a:p>
        </p:txBody>
      </p:sp>
      <p:sp>
        <p:nvSpPr>
          <p:cNvPr id="9" name="Shape 7"/>
          <p:cNvSpPr/>
          <p:nvPr/>
        </p:nvSpPr>
        <p:spPr>
          <a:xfrm>
            <a:off x="7909560" y="2377440"/>
            <a:ext cx="3429000" cy="749808"/>
          </a:xfrm>
          <a:prstGeom prst="roundRect">
            <a:avLst>
              <a:gd name="adj" fmla="val 17073"/>
            </a:avLst>
          </a:prstGeom>
          <a:solidFill>
            <a:srgbClr val="F4F7F6"/>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0" name="Text 8"/>
          <p:cNvSpPr/>
          <p:nvPr/>
        </p:nvSpPr>
        <p:spPr>
          <a:xfrm>
            <a:off x="8138160" y="2496312"/>
            <a:ext cx="3017520" cy="274320"/>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Level 2 dispensary</a:t>
            </a:r>
            <a:endParaRPr lang="en-US" sz="1350" dirty="0"/>
          </a:p>
        </p:txBody>
      </p:sp>
      <p:sp>
        <p:nvSpPr>
          <p:cNvPr id="11" name="Text 9"/>
          <p:cNvSpPr/>
          <p:nvPr/>
        </p:nvSpPr>
        <p:spPr>
          <a:xfrm>
            <a:off x="8138160" y="2779776"/>
            <a:ext cx="3017520" cy="256032"/>
          </a:xfrm>
          <a:prstGeom prst="rect">
            <a:avLst/>
          </a:prstGeom>
          <a:noFill/>
          <a:ln/>
        </p:spPr>
        <p:txBody>
          <a:bodyPr wrap="square" lIns="0" tIns="0" rIns="0" bIns="0" rtlCol="0" anchor="t"/>
          <a:lstStyle/>
          <a:p>
            <a:pPr algn="l" indent="0" marL="0">
              <a:buNone/>
            </a:pPr>
            <a:r>
              <a:rPr lang="en-US" sz="1100" dirty="0">
                <a:solidFill>
                  <a:srgbClr val="3D524C"/>
                </a:solidFill>
                <a:latin typeface="Calibri" pitchFamily="34" charset="0"/>
                <a:ea typeface="Calibri" pitchFamily="34" charset="-122"/>
                <a:cs typeface="Calibri" pitchFamily="34" charset="-120"/>
              </a:rPr>
              <a:t>walked past</a:t>
            </a:r>
            <a:endParaRPr lang="en-US" sz="1100" dirty="0"/>
          </a:p>
        </p:txBody>
      </p:sp>
      <p:sp>
        <p:nvSpPr>
          <p:cNvPr id="12" name="Shape 10"/>
          <p:cNvSpPr/>
          <p:nvPr/>
        </p:nvSpPr>
        <p:spPr>
          <a:xfrm>
            <a:off x="7909560" y="3291840"/>
            <a:ext cx="3429000" cy="749808"/>
          </a:xfrm>
          <a:prstGeom prst="roundRect">
            <a:avLst>
              <a:gd name="adj" fmla="val 17073"/>
            </a:avLst>
          </a:prstGeom>
          <a:solidFill>
            <a:srgbClr val="F4F7F6"/>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3" name="Text 11"/>
          <p:cNvSpPr/>
          <p:nvPr/>
        </p:nvSpPr>
        <p:spPr>
          <a:xfrm>
            <a:off x="8138160" y="3410712"/>
            <a:ext cx="3017520" cy="274320"/>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Level 3 health centre</a:t>
            </a:r>
            <a:endParaRPr lang="en-US" sz="1350" dirty="0"/>
          </a:p>
        </p:txBody>
      </p:sp>
      <p:sp>
        <p:nvSpPr>
          <p:cNvPr id="14" name="Text 12"/>
          <p:cNvSpPr/>
          <p:nvPr/>
        </p:nvSpPr>
        <p:spPr>
          <a:xfrm>
            <a:off x="8138160" y="3694176"/>
            <a:ext cx="3017520" cy="256032"/>
          </a:xfrm>
          <a:prstGeom prst="rect">
            <a:avLst/>
          </a:prstGeom>
          <a:noFill/>
          <a:ln/>
        </p:spPr>
        <p:txBody>
          <a:bodyPr wrap="square" lIns="0" tIns="0" rIns="0" bIns="0" rtlCol="0" anchor="t"/>
          <a:lstStyle/>
          <a:p>
            <a:pPr algn="l" indent="0" marL="0">
              <a:buNone/>
            </a:pPr>
            <a:r>
              <a:rPr lang="en-US" sz="1100" dirty="0">
                <a:solidFill>
                  <a:srgbClr val="3D524C"/>
                </a:solidFill>
                <a:latin typeface="Calibri" pitchFamily="34" charset="0"/>
                <a:ea typeface="Calibri" pitchFamily="34" charset="-122"/>
                <a:cs typeface="Calibri" pitchFamily="34" charset="-120"/>
              </a:rPr>
              <a:t>walked past</a:t>
            </a:r>
            <a:endParaRPr lang="en-US" sz="1100" dirty="0"/>
          </a:p>
        </p:txBody>
      </p:sp>
      <p:sp>
        <p:nvSpPr>
          <p:cNvPr id="15" name="Shape 13"/>
          <p:cNvSpPr/>
          <p:nvPr/>
        </p:nvSpPr>
        <p:spPr>
          <a:xfrm>
            <a:off x="7909560" y="4206240"/>
            <a:ext cx="3429000" cy="749808"/>
          </a:xfrm>
          <a:prstGeom prst="roundRect">
            <a:avLst>
              <a:gd name="adj" fmla="val 17073"/>
            </a:avLst>
          </a:prstGeom>
          <a:solidFill>
            <a:srgbClr val="0F5C4C"/>
          </a:solidFill>
          <a:ln/>
          <a:effectLst>
            <a:outerShdw sx="100000" sy="100000" kx="0" ky="0" algn="bl" rotWithShape="0" blurRad="127000" dist="25400" dir="5400000">
              <a:srgbClr val="14211e">
                <a:alpha val="10000"/>
              </a:srgbClr>
            </a:outerShdw>
          </a:effectLst>
        </p:spPr>
      </p:sp>
      <p:sp>
        <p:nvSpPr>
          <p:cNvPr id="16" name="Text 14"/>
          <p:cNvSpPr/>
          <p:nvPr/>
        </p:nvSpPr>
        <p:spPr>
          <a:xfrm>
            <a:off x="8138160" y="4325112"/>
            <a:ext cx="3017520" cy="274320"/>
          </a:xfrm>
          <a:prstGeom prst="rect">
            <a:avLst/>
          </a:prstGeom>
          <a:noFill/>
          <a:ln/>
        </p:spPr>
        <p:txBody>
          <a:bodyPr wrap="square" lIns="0" tIns="0" rIns="0" bIns="0" rtlCol="0" anchor="t"/>
          <a:lstStyle/>
          <a:p>
            <a:pPr algn="l" indent="0" marL="0">
              <a:buNone/>
            </a:pPr>
            <a:r>
              <a:rPr lang="en-US" sz="1350" b="1" dirty="0">
                <a:solidFill>
                  <a:srgbClr val="F4F7F6"/>
                </a:solidFill>
                <a:latin typeface="Calibri" pitchFamily="34" charset="0"/>
                <a:ea typeface="Calibri" pitchFamily="34" charset="-122"/>
                <a:cs typeface="Calibri" pitchFamily="34" charset="-120"/>
              </a:rPr>
              <a:t>Level 4–5 referral hospital</a:t>
            </a:r>
            <a:endParaRPr lang="en-US" sz="1350" dirty="0"/>
          </a:p>
        </p:txBody>
      </p:sp>
      <p:sp>
        <p:nvSpPr>
          <p:cNvPr id="17" name="Text 15"/>
          <p:cNvSpPr/>
          <p:nvPr/>
        </p:nvSpPr>
        <p:spPr>
          <a:xfrm>
            <a:off x="8138160" y="4608576"/>
            <a:ext cx="3017520" cy="256032"/>
          </a:xfrm>
          <a:prstGeom prst="rect">
            <a:avLst/>
          </a:prstGeom>
          <a:noFill/>
          <a:ln/>
        </p:spPr>
        <p:txBody>
          <a:bodyPr wrap="square" lIns="0" tIns="0" rIns="0" bIns="0" rtlCol="0" anchor="t"/>
          <a:lstStyle/>
          <a:p>
            <a:pPr algn="l" indent="0" marL="0">
              <a:buNone/>
            </a:pPr>
            <a:r>
              <a:rPr lang="en-US" sz="1100" dirty="0">
                <a:solidFill>
                  <a:srgbClr val="C5D4CF"/>
                </a:solidFill>
                <a:latin typeface="Calibri" pitchFamily="34" charset="0"/>
                <a:ea typeface="Calibri" pitchFamily="34" charset="-122"/>
                <a:cs typeface="Calibri" pitchFamily="34" charset="-120"/>
              </a:rPr>
              <a:t>where everyone goes</a:t>
            </a:r>
            <a:endParaRPr lang="en-US" sz="1100" dirty="0"/>
          </a:p>
        </p:txBody>
      </p:sp>
      <p:sp>
        <p:nvSpPr>
          <p:cNvPr id="18" name="Shape 16"/>
          <p:cNvSpPr/>
          <p:nvPr/>
        </p:nvSpPr>
        <p:spPr>
          <a:xfrm>
            <a:off x="7589520" y="2514600"/>
            <a:ext cx="0" cy="2148840"/>
          </a:xfrm>
          <a:prstGeom prst="line">
            <a:avLst/>
          </a:prstGeom>
          <a:noFill/>
          <a:ln w="25400">
            <a:solidFill>
              <a:srgbClr val="9B1C1C"/>
            </a:solidFill>
            <a:prstDash val="solid"/>
            <a:tailEnd type="triangle"/>
          </a:ln>
        </p:spPr>
      </p:sp>
      <p:sp>
        <p:nvSpPr>
          <p:cNvPr id="19" name="Text 17"/>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Abere, cited in Bungoma 2024 (Bungoma County Referral Hospital self-referral study).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THE WRONG QUEUE</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Then they land in the wrong queue</a:t>
            </a:r>
            <a:endParaRPr lang="en-US" sz="3800" dirty="0"/>
          </a:p>
        </p:txBody>
      </p:sp>
      <p:sp>
        <p:nvSpPr>
          <p:cNvPr id="4" name="Shape 2"/>
          <p:cNvSpPr/>
          <p:nvPr/>
        </p:nvSpPr>
        <p:spPr>
          <a:xfrm>
            <a:off x="548640" y="1874520"/>
            <a:ext cx="3447288" cy="2651760"/>
          </a:xfrm>
          <a:prstGeom prst="roundRect">
            <a:avLst>
              <a:gd name="adj" fmla="val 482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5" name="Text 3"/>
          <p:cNvSpPr/>
          <p:nvPr/>
        </p:nvSpPr>
        <p:spPr>
          <a:xfrm>
            <a:off x="841248" y="2112264"/>
            <a:ext cx="2862072" cy="868680"/>
          </a:xfrm>
          <a:prstGeom prst="rect">
            <a:avLst/>
          </a:prstGeom>
          <a:noFill/>
          <a:ln/>
        </p:spPr>
        <p:txBody>
          <a:bodyPr wrap="square" lIns="0" tIns="0" rIns="0" bIns="0" rtlCol="0" anchor="t"/>
          <a:lstStyle/>
          <a:p>
            <a:pPr algn="l" indent="0" marL="0">
              <a:buNone/>
            </a:pPr>
            <a:r>
              <a:rPr lang="en-US" sz="5400" b="1" dirty="0">
                <a:solidFill>
                  <a:srgbClr val="0F5C4C"/>
                </a:solidFill>
                <a:latin typeface="Cambria" pitchFamily="34" charset="0"/>
                <a:ea typeface="Cambria" pitchFamily="34" charset="-122"/>
                <a:cs typeface="Cambria" pitchFamily="34" charset="-120"/>
              </a:rPr>
              <a:t>81%</a:t>
            </a:r>
            <a:endParaRPr lang="en-US" sz="5400" dirty="0"/>
          </a:p>
        </p:txBody>
      </p:sp>
      <p:sp>
        <p:nvSpPr>
          <p:cNvPr id="6" name="Text 4"/>
          <p:cNvSpPr/>
          <p:nvPr/>
        </p:nvSpPr>
        <p:spPr>
          <a:xfrm>
            <a:off x="841248" y="3008376"/>
            <a:ext cx="2862072" cy="548640"/>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of ED patients are CTAS 4–5</a:t>
            </a:r>
            <a:endParaRPr lang="en-US" sz="1500" dirty="0"/>
          </a:p>
        </p:txBody>
      </p:sp>
      <p:sp>
        <p:nvSpPr>
          <p:cNvPr id="7" name="Text 5"/>
          <p:cNvSpPr/>
          <p:nvPr/>
        </p:nvSpPr>
        <p:spPr>
          <a:xfrm>
            <a:off x="841248" y="3593592"/>
            <a:ext cx="2862072" cy="749808"/>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Low-acuity cases sitting in an emergency department.</a:t>
            </a:r>
            <a:endParaRPr lang="en-US" sz="1250" dirty="0"/>
          </a:p>
        </p:txBody>
      </p:sp>
      <p:sp>
        <p:nvSpPr>
          <p:cNvPr id="8" name="Shape 6"/>
          <p:cNvSpPr/>
          <p:nvPr/>
        </p:nvSpPr>
        <p:spPr>
          <a:xfrm>
            <a:off x="4361688" y="1874520"/>
            <a:ext cx="3447288" cy="2651760"/>
          </a:xfrm>
          <a:prstGeom prst="roundRect">
            <a:avLst>
              <a:gd name="adj" fmla="val 482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9" name="Text 7"/>
          <p:cNvSpPr/>
          <p:nvPr/>
        </p:nvSpPr>
        <p:spPr>
          <a:xfrm>
            <a:off x="4654296" y="2112264"/>
            <a:ext cx="2862072" cy="868680"/>
          </a:xfrm>
          <a:prstGeom prst="rect">
            <a:avLst/>
          </a:prstGeom>
          <a:noFill/>
          <a:ln/>
        </p:spPr>
        <p:txBody>
          <a:bodyPr wrap="square" lIns="0" tIns="0" rIns="0" bIns="0" rtlCol="0" anchor="t"/>
          <a:lstStyle/>
          <a:p>
            <a:pPr algn="l" indent="0" marL="0">
              <a:buNone/>
            </a:pPr>
            <a:r>
              <a:rPr lang="en-US" sz="5400" b="1" dirty="0">
                <a:solidFill>
                  <a:srgbClr val="0F5C4C"/>
                </a:solidFill>
                <a:latin typeface="Cambria" pitchFamily="34" charset="0"/>
                <a:ea typeface="Cambria" pitchFamily="34" charset="-122"/>
                <a:cs typeface="Cambria" pitchFamily="34" charset="-120"/>
              </a:rPr>
              <a:t>76.5%</a:t>
            </a:r>
            <a:endParaRPr lang="en-US" sz="5400" dirty="0"/>
          </a:p>
        </p:txBody>
      </p:sp>
      <p:sp>
        <p:nvSpPr>
          <p:cNvPr id="10" name="Text 8"/>
          <p:cNvSpPr/>
          <p:nvPr/>
        </p:nvSpPr>
        <p:spPr>
          <a:xfrm>
            <a:off x="4654296" y="3008376"/>
            <a:ext cx="2862072" cy="548640"/>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wait longer than 30 minutes</a:t>
            </a:r>
            <a:endParaRPr lang="en-US" sz="1500" dirty="0"/>
          </a:p>
        </p:txBody>
      </p:sp>
      <p:sp>
        <p:nvSpPr>
          <p:cNvPr id="11" name="Text 9"/>
          <p:cNvSpPr/>
          <p:nvPr/>
        </p:nvSpPr>
        <p:spPr>
          <a:xfrm>
            <a:off x="4654296" y="3593592"/>
            <a:ext cx="2862072" cy="749808"/>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Only 23.5% are seen within 30 minutes of arrival.</a:t>
            </a:r>
            <a:endParaRPr lang="en-US" sz="1250" dirty="0"/>
          </a:p>
        </p:txBody>
      </p:sp>
      <p:sp>
        <p:nvSpPr>
          <p:cNvPr id="12" name="Shape 10"/>
          <p:cNvSpPr/>
          <p:nvPr/>
        </p:nvSpPr>
        <p:spPr>
          <a:xfrm>
            <a:off x="8174736" y="1874520"/>
            <a:ext cx="3447288" cy="2651760"/>
          </a:xfrm>
          <a:prstGeom prst="roundRect">
            <a:avLst>
              <a:gd name="adj" fmla="val 482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3" name="Text 11"/>
          <p:cNvSpPr/>
          <p:nvPr/>
        </p:nvSpPr>
        <p:spPr>
          <a:xfrm>
            <a:off x="8467344" y="2112264"/>
            <a:ext cx="2862072" cy="868680"/>
          </a:xfrm>
          <a:prstGeom prst="rect">
            <a:avLst/>
          </a:prstGeom>
          <a:noFill/>
          <a:ln/>
        </p:spPr>
        <p:txBody>
          <a:bodyPr wrap="square" lIns="0" tIns="0" rIns="0" bIns="0" rtlCol="0" anchor="t"/>
          <a:lstStyle/>
          <a:p>
            <a:pPr algn="l" indent="0" marL="0">
              <a:buNone/>
            </a:pPr>
            <a:r>
              <a:rPr lang="en-US" sz="5400" b="1" dirty="0">
                <a:solidFill>
                  <a:srgbClr val="0F5C4C"/>
                </a:solidFill>
                <a:latin typeface="Cambria" pitchFamily="34" charset="0"/>
                <a:ea typeface="Cambria" pitchFamily="34" charset="-122"/>
                <a:cs typeface="Cambria" pitchFamily="34" charset="-120"/>
              </a:rPr>
              <a:t>~200%</a:t>
            </a:r>
            <a:endParaRPr lang="en-US" sz="5400" dirty="0"/>
          </a:p>
        </p:txBody>
      </p:sp>
      <p:sp>
        <p:nvSpPr>
          <p:cNvPr id="14" name="Text 12"/>
          <p:cNvSpPr/>
          <p:nvPr/>
        </p:nvSpPr>
        <p:spPr>
          <a:xfrm>
            <a:off x="8467344" y="3008376"/>
            <a:ext cx="2862072" cy="548640"/>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occupancy at Mbagathi</a:t>
            </a:r>
            <a:endParaRPr lang="en-US" sz="1500" dirty="0"/>
          </a:p>
        </p:txBody>
      </p:sp>
      <p:sp>
        <p:nvSpPr>
          <p:cNvPr id="15" name="Text 13"/>
          <p:cNvSpPr/>
          <p:nvPr/>
        </p:nvSpPr>
        <p:spPr>
          <a:xfrm>
            <a:off x="8467344" y="3593592"/>
            <a:ext cx="2862072" cy="749808"/>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About 1,000 outpatients through the door every day.</a:t>
            </a:r>
            <a:endParaRPr lang="en-US" sz="1250" dirty="0"/>
          </a:p>
        </p:txBody>
      </p:sp>
      <p:sp>
        <p:nvSpPr>
          <p:cNvPr id="16" name="Text 14"/>
          <p:cNvSpPr/>
          <p:nvPr/>
        </p:nvSpPr>
        <p:spPr>
          <a:xfrm>
            <a:off x="548640" y="4754880"/>
            <a:ext cx="10607040" cy="822960"/>
          </a:xfrm>
          <a:prstGeom prst="rect">
            <a:avLst/>
          </a:prstGeom>
          <a:noFill/>
          <a:ln/>
        </p:spPr>
        <p:txBody>
          <a:bodyPr wrap="square" lIns="0" tIns="0" rIns="0" bIns="0" rtlCol="0" anchor="t"/>
          <a:lstStyle/>
          <a:p>
            <a:pPr algn="l" indent="0" marL="0">
              <a:lnSpc>
                <a:spcPct val="115000"/>
              </a:lnSpc>
              <a:buNone/>
            </a:pPr>
            <a:r>
              <a:rPr lang="en-US" sz="1600" dirty="0">
                <a:solidFill>
                  <a:srgbClr val="14211E"/>
                </a:solidFill>
                <a:latin typeface="Calibri" pitchFamily="34" charset="0"/>
                <a:ea typeface="Calibri" pitchFamily="34" charset="-122"/>
                <a:cs typeface="Calibri" pitchFamily="34" charset="-120"/>
              </a:rPr>
              <a:t>Referral hospitals absorb mild demand a nearer Level 2–3 facility could have handled — so the people who need a referral hospital queue behind the people who do not.</a:t>
            </a:r>
            <a:endParaRPr lang="en-US" sz="1600" dirty="0"/>
          </a:p>
        </p:txBody>
      </p:sp>
      <p:sp>
        <p:nvSpPr>
          <p:cNvPr id="17" name="Text 15"/>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AKUHN emergency department, PLOS One 2025 (n=941); Mbagathi County Referral Hospital operational statistics.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SUPPLY VS DEMAND</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The capacity is already one level down</a:t>
            </a:r>
            <a:endParaRPr lang="en-US" sz="3800" dirty="0"/>
          </a:p>
        </p:txBody>
      </p:sp>
      <p:sp>
        <p:nvSpPr>
          <p:cNvPr id="4" name="Shape 2"/>
          <p:cNvSpPr/>
          <p:nvPr/>
        </p:nvSpPr>
        <p:spPr>
          <a:xfrm>
            <a:off x="548640" y="1828800"/>
            <a:ext cx="2039112" cy="2103120"/>
          </a:xfrm>
          <a:prstGeom prst="roundRect">
            <a:avLst>
              <a:gd name="adj" fmla="val 627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5" name="Text 3"/>
          <p:cNvSpPr/>
          <p:nvPr/>
        </p:nvSpPr>
        <p:spPr>
          <a:xfrm>
            <a:off x="804672" y="2048256"/>
            <a:ext cx="1554480" cy="731520"/>
          </a:xfrm>
          <a:prstGeom prst="rect">
            <a:avLst/>
          </a:prstGeom>
          <a:noFill/>
          <a:ln/>
        </p:spPr>
        <p:txBody>
          <a:bodyPr wrap="square" lIns="0" tIns="0" rIns="0" bIns="0" rtlCol="0" anchor="t"/>
          <a:lstStyle/>
          <a:p>
            <a:pPr algn="l" indent="0" marL="0">
              <a:buNone/>
            </a:pPr>
            <a:r>
              <a:rPr lang="en-US" sz="4400" b="1" dirty="0">
                <a:solidFill>
                  <a:srgbClr val="0F5C4C"/>
                </a:solidFill>
                <a:latin typeface="Cambria" pitchFamily="34" charset="0"/>
                <a:ea typeface="Cambria" pitchFamily="34" charset="-122"/>
                <a:cs typeface="Cambria" pitchFamily="34" charset="-120"/>
              </a:rPr>
              <a:t>71%</a:t>
            </a:r>
            <a:endParaRPr lang="en-US" sz="4400" dirty="0"/>
          </a:p>
        </p:txBody>
      </p:sp>
      <p:sp>
        <p:nvSpPr>
          <p:cNvPr id="6" name="Text 4"/>
          <p:cNvSpPr/>
          <p:nvPr/>
        </p:nvSpPr>
        <p:spPr>
          <a:xfrm>
            <a:off x="804672" y="2852928"/>
            <a:ext cx="1554480" cy="292608"/>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Level 2</a:t>
            </a:r>
            <a:endParaRPr lang="en-US" sz="1500" dirty="0"/>
          </a:p>
        </p:txBody>
      </p:sp>
      <p:sp>
        <p:nvSpPr>
          <p:cNvPr id="7" name="Text 5"/>
          <p:cNvSpPr/>
          <p:nvPr/>
        </p:nvSpPr>
        <p:spPr>
          <a:xfrm>
            <a:off x="804672" y="3182112"/>
            <a:ext cx="1554480" cy="502920"/>
          </a:xfrm>
          <a:prstGeom prst="rect">
            <a:avLst/>
          </a:prstGeom>
          <a:noFill/>
          <a:ln/>
        </p:spPr>
        <p:txBody>
          <a:bodyPr wrap="square" lIns="0" tIns="0" rIns="0" bIns="0" rtlCol="0" anchor="t"/>
          <a:lstStyle/>
          <a:p>
            <a:pPr algn="l" indent="0" marL="0">
              <a:buNone/>
            </a:pPr>
            <a:r>
              <a:rPr lang="en-US" sz="1200" dirty="0">
                <a:solidFill>
                  <a:srgbClr val="3D524C"/>
                </a:solidFill>
                <a:latin typeface="Calibri" pitchFamily="34" charset="0"/>
                <a:ea typeface="Calibri" pitchFamily="34" charset="-122"/>
                <a:cs typeface="Calibri" pitchFamily="34" charset="-120"/>
              </a:rPr>
              <a:t>Dispensary</a:t>
            </a:r>
            <a:endParaRPr lang="en-US" sz="1200" dirty="0"/>
          </a:p>
        </p:txBody>
      </p:sp>
      <p:sp>
        <p:nvSpPr>
          <p:cNvPr id="8" name="Shape 6"/>
          <p:cNvSpPr/>
          <p:nvPr/>
        </p:nvSpPr>
        <p:spPr>
          <a:xfrm>
            <a:off x="2862072" y="1828800"/>
            <a:ext cx="2039112" cy="2103120"/>
          </a:xfrm>
          <a:prstGeom prst="roundRect">
            <a:avLst>
              <a:gd name="adj" fmla="val 627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9" name="Text 7"/>
          <p:cNvSpPr/>
          <p:nvPr/>
        </p:nvSpPr>
        <p:spPr>
          <a:xfrm>
            <a:off x="3118104" y="2048256"/>
            <a:ext cx="1554480" cy="731520"/>
          </a:xfrm>
          <a:prstGeom prst="rect">
            <a:avLst/>
          </a:prstGeom>
          <a:noFill/>
          <a:ln/>
        </p:spPr>
        <p:txBody>
          <a:bodyPr wrap="square" lIns="0" tIns="0" rIns="0" bIns="0" rtlCol="0" anchor="t"/>
          <a:lstStyle/>
          <a:p>
            <a:pPr algn="l" indent="0" marL="0">
              <a:buNone/>
            </a:pPr>
            <a:r>
              <a:rPr lang="en-US" sz="4400" b="1" dirty="0">
                <a:solidFill>
                  <a:srgbClr val="0F5C4C"/>
                </a:solidFill>
                <a:latin typeface="Cambria" pitchFamily="34" charset="0"/>
                <a:ea typeface="Cambria" pitchFamily="34" charset="-122"/>
                <a:cs typeface="Cambria" pitchFamily="34" charset="-120"/>
              </a:rPr>
              <a:t>~20%</a:t>
            </a:r>
            <a:endParaRPr lang="en-US" sz="4400" dirty="0"/>
          </a:p>
        </p:txBody>
      </p:sp>
      <p:sp>
        <p:nvSpPr>
          <p:cNvPr id="10" name="Text 8"/>
          <p:cNvSpPr/>
          <p:nvPr/>
        </p:nvSpPr>
        <p:spPr>
          <a:xfrm>
            <a:off x="3118104" y="2852928"/>
            <a:ext cx="1554480" cy="292608"/>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Level 3</a:t>
            </a:r>
            <a:endParaRPr lang="en-US" sz="1500" dirty="0"/>
          </a:p>
        </p:txBody>
      </p:sp>
      <p:sp>
        <p:nvSpPr>
          <p:cNvPr id="11" name="Text 9"/>
          <p:cNvSpPr/>
          <p:nvPr/>
        </p:nvSpPr>
        <p:spPr>
          <a:xfrm>
            <a:off x="3118104" y="3182112"/>
            <a:ext cx="1554480" cy="502920"/>
          </a:xfrm>
          <a:prstGeom prst="rect">
            <a:avLst/>
          </a:prstGeom>
          <a:noFill/>
          <a:ln/>
        </p:spPr>
        <p:txBody>
          <a:bodyPr wrap="square" lIns="0" tIns="0" rIns="0" bIns="0" rtlCol="0" anchor="t"/>
          <a:lstStyle/>
          <a:p>
            <a:pPr algn="l" indent="0" marL="0">
              <a:buNone/>
            </a:pPr>
            <a:r>
              <a:rPr lang="en-US" sz="1200" dirty="0">
                <a:solidFill>
                  <a:srgbClr val="3D524C"/>
                </a:solidFill>
                <a:latin typeface="Calibri" pitchFamily="34" charset="0"/>
                <a:ea typeface="Calibri" pitchFamily="34" charset="-122"/>
                <a:cs typeface="Calibri" pitchFamily="34" charset="-120"/>
              </a:rPr>
              <a:t>Health centre</a:t>
            </a:r>
            <a:endParaRPr lang="en-US" sz="1200" dirty="0"/>
          </a:p>
        </p:txBody>
      </p:sp>
      <p:sp>
        <p:nvSpPr>
          <p:cNvPr id="12" name="Shape 10"/>
          <p:cNvSpPr/>
          <p:nvPr/>
        </p:nvSpPr>
        <p:spPr>
          <a:xfrm>
            <a:off x="5175504" y="1828800"/>
            <a:ext cx="2039112" cy="2103120"/>
          </a:xfrm>
          <a:prstGeom prst="roundRect">
            <a:avLst>
              <a:gd name="adj" fmla="val 627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3" name="Text 11"/>
          <p:cNvSpPr/>
          <p:nvPr/>
        </p:nvSpPr>
        <p:spPr>
          <a:xfrm>
            <a:off x="5431536" y="2048256"/>
            <a:ext cx="1554480" cy="731520"/>
          </a:xfrm>
          <a:prstGeom prst="rect">
            <a:avLst/>
          </a:prstGeom>
          <a:noFill/>
          <a:ln/>
        </p:spPr>
        <p:txBody>
          <a:bodyPr wrap="square" lIns="0" tIns="0" rIns="0" bIns="0" rtlCol="0" anchor="t"/>
          <a:lstStyle/>
          <a:p>
            <a:pPr algn="l" indent="0" marL="0">
              <a:buNone/>
            </a:pPr>
            <a:r>
              <a:rPr lang="en-US" sz="4400" b="1" dirty="0">
                <a:solidFill>
                  <a:srgbClr val="0F5C4C"/>
                </a:solidFill>
                <a:latin typeface="Cambria" pitchFamily="34" charset="0"/>
                <a:ea typeface="Cambria" pitchFamily="34" charset="-122"/>
                <a:cs typeface="Cambria" pitchFamily="34" charset="-120"/>
              </a:rPr>
              <a:t>~7%</a:t>
            </a:r>
            <a:endParaRPr lang="en-US" sz="4400" dirty="0"/>
          </a:p>
        </p:txBody>
      </p:sp>
      <p:sp>
        <p:nvSpPr>
          <p:cNvPr id="14" name="Text 12"/>
          <p:cNvSpPr/>
          <p:nvPr/>
        </p:nvSpPr>
        <p:spPr>
          <a:xfrm>
            <a:off x="5431536" y="2852928"/>
            <a:ext cx="1554480" cy="292608"/>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Level 4</a:t>
            </a:r>
            <a:endParaRPr lang="en-US" sz="1500" dirty="0"/>
          </a:p>
        </p:txBody>
      </p:sp>
      <p:sp>
        <p:nvSpPr>
          <p:cNvPr id="15" name="Text 13"/>
          <p:cNvSpPr/>
          <p:nvPr/>
        </p:nvSpPr>
        <p:spPr>
          <a:xfrm>
            <a:off x="5431536" y="3182112"/>
            <a:ext cx="1554480" cy="502920"/>
          </a:xfrm>
          <a:prstGeom prst="rect">
            <a:avLst/>
          </a:prstGeom>
          <a:noFill/>
          <a:ln/>
        </p:spPr>
        <p:txBody>
          <a:bodyPr wrap="square" lIns="0" tIns="0" rIns="0" bIns="0" rtlCol="0" anchor="t"/>
          <a:lstStyle/>
          <a:p>
            <a:pPr algn="l" indent="0" marL="0">
              <a:buNone/>
            </a:pPr>
            <a:r>
              <a:rPr lang="en-US" sz="1200" dirty="0">
                <a:solidFill>
                  <a:srgbClr val="3D524C"/>
                </a:solidFill>
                <a:latin typeface="Calibri" pitchFamily="34" charset="0"/>
                <a:ea typeface="Calibri" pitchFamily="34" charset="-122"/>
                <a:cs typeface="Calibri" pitchFamily="34" charset="-120"/>
              </a:rPr>
              <a:t>Primary hospital</a:t>
            </a:r>
            <a:endParaRPr lang="en-US" sz="1200" dirty="0"/>
          </a:p>
        </p:txBody>
      </p:sp>
      <p:sp>
        <p:nvSpPr>
          <p:cNvPr id="16" name="Text 14"/>
          <p:cNvSpPr/>
          <p:nvPr/>
        </p:nvSpPr>
        <p:spPr>
          <a:xfrm>
            <a:off x="548640" y="4160520"/>
            <a:ext cx="6675120" cy="1005840"/>
          </a:xfrm>
          <a:prstGeom prst="rect">
            <a:avLst/>
          </a:prstGeom>
          <a:noFill/>
          <a:ln/>
        </p:spPr>
        <p:txBody>
          <a:bodyPr wrap="square" lIns="0" tIns="0" rIns="0" bIns="0" rtlCol="0" anchor="t"/>
          <a:lstStyle/>
          <a:p>
            <a:pPr algn="l" indent="0" marL="0">
              <a:lnSpc>
                <a:spcPct val="115000"/>
              </a:lnSpc>
              <a:buNone/>
            </a:pPr>
            <a:r>
              <a:rPr lang="en-US" sz="1600" dirty="0">
                <a:solidFill>
                  <a:srgbClr val="14211E"/>
                </a:solidFill>
                <a:latin typeface="Calibri" pitchFamily="34" charset="0"/>
                <a:ea typeface="Calibri" pitchFamily="34" charset="-122"/>
                <a:cs typeface="Calibri" pitchFamily="34" charset="-120"/>
              </a:rPr>
              <a:t>Supply sits at Level 2–3. Demand skips it. Nothing has to be built for CareFlow to route people to capacity that already exists.</a:t>
            </a:r>
            <a:endParaRPr lang="en-US" sz="1600" dirty="0"/>
          </a:p>
        </p:txBody>
      </p:sp>
      <p:sp>
        <p:nvSpPr>
          <p:cNvPr id="17" name="Shape 15"/>
          <p:cNvSpPr/>
          <p:nvPr/>
        </p:nvSpPr>
        <p:spPr>
          <a:xfrm>
            <a:off x="7680960" y="1828800"/>
            <a:ext cx="3931920" cy="3108960"/>
          </a:xfrm>
          <a:prstGeom prst="roundRect">
            <a:avLst>
              <a:gd name="adj" fmla="val 4118"/>
            </a:avLst>
          </a:prstGeom>
          <a:solidFill>
            <a:srgbClr val="FDE8E8"/>
          </a:solidFill>
          <a:ln/>
          <a:effectLst>
            <a:outerShdw sx="100000" sy="100000" kx="0" ky="0" algn="bl" rotWithShape="0" blurRad="127000" dist="25400" dir="5400000">
              <a:srgbClr val="14211e">
                <a:alpha val="10000"/>
              </a:srgbClr>
            </a:outerShdw>
          </a:effectLst>
        </p:spPr>
      </p:sp>
      <p:sp>
        <p:nvSpPr>
          <p:cNvPr id="18" name="Text 16"/>
          <p:cNvSpPr/>
          <p:nvPr/>
        </p:nvSpPr>
        <p:spPr>
          <a:xfrm>
            <a:off x="7955280" y="2048256"/>
            <a:ext cx="3383280" cy="274320"/>
          </a:xfrm>
          <a:prstGeom prst="rect">
            <a:avLst/>
          </a:prstGeom>
          <a:noFill/>
          <a:ln/>
        </p:spPr>
        <p:txBody>
          <a:bodyPr wrap="square" lIns="0" tIns="0" rIns="0" bIns="0" rtlCol="0" anchor="t"/>
          <a:lstStyle/>
          <a:p>
            <a:pPr algn="l" indent="0" marL="0">
              <a:buNone/>
            </a:pPr>
            <a:r>
              <a:rPr lang="en-US" sz="1150" b="1" spc="140" kern="0" dirty="0">
                <a:solidFill>
                  <a:srgbClr val="9B1C1C"/>
                </a:solidFill>
                <a:latin typeface="Calibri" pitchFamily="34" charset="0"/>
                <a:ea typeface="Calibri" pitchFamily="34" charset="-122"/>
                <a:cs typeface="Calibri" pitchFamily="34" charset="-120"/>
              </a:rPr>
              <a:t>READINESS WARNING</a:t>
            </a:r>
            <a:endParaRPr lang="en-US" sz="1150" dirty="0"/>
          </a:p>
        </p:txBody>
      </p:sp>
      <p:sp>
        <p:nvSpPr>
          <p:cNvPr id="19" name="Text 17"/>
          <p:cNvSpPr/>
          <p:nvPr/>
        </p:nvSpPr>
        <p:spPr>
          <a:xfrm>
            <a:off x="7955280" y="2377440"/>
            <a:ext cx="3383280" cy="822960"/>
          </a:xfrm>
          <a:prstGeom prst="rect">
            <a:avLst/>
          </a:prstGeom>
          <a:noFill/>
          <a:ln/>
        </p:spPr>
        <p:txBody>
          <a:bodyPr wrap="square" lIns="0" tIns="0" rIns="0" bIns="0" rtlCol="0" anchor="t"/>
          <a:lstStyle/>
          <a:p>
            <a:pPr algn="l" indent="0" marL="0">
              <a:buNone/>
            </a:pPr>
            <a:r>
              <a:rPr lang="en-US" sz="5400" b="1" dirty="0">
                <a:solidFill>
                  <a:srgbClr val="9B1C1C"/>
                </a:solidFill>
                <a:latin typeface="Cambria" pitchFamily="34" charset="0"/>
                <a:ea typeface="Cambria" pitchFamily="34" charset="-122"/>
                <a:cs typeface="Cambria" pitchFamily="34" charset="-120"/>
              </a:rPr>
              <a:t>7%</a:t>
            </a:r>
            <a:endParaRPr lang="en-US" sz="5400" dirty="0"/>
          </a:p>
        </p:txBody>
      </p:sp>
      <p:sp>
        <p:nvSpPr>
          <p:cNvPr id="20" name="Text 18"/>
          <p:cNvSpPr/>
          <p:nvPr/>
        </p:nvSpPr>
        <p:spPr>
          <a:xfrm>
            <a:off x="7955280" y="3218688"/>
            <a:ext cx="3383280" cy="502920"/>
          </a:xfrm>
          <a:prstGeom prst="rect">
            <a:avLst/>
          </a:prstGeom>
          <a:noFill/>
          <a:ln/>
        </p:spPr>
        <p:txBody>
          <a:bodyPr wrap="square" lIns="0" tIns="0" rIns="0" bIns="0" rtlCol="0" anchor="t"/>
          <a:lstStyle/>
          <a:p>
            <a:pPr algn="l" indent="0" marL="0">
              <a:buNone/>
            </a:pPr>
            <a:r>
              <a:rPr lang="en-US" sz="1400" b="1" dirty="0">
                <a:solidFill>
                  <a:srgbClr val="14211E"/>
                </a:solidFill>
                <a:latin typeface="Calibri" pitchFamily="34" charset="0"/>
                <a:ea typeface="Calibri" pitchFamily="34" charset="-122"/>
                <a:cs typeface="Calibri" pitchFamily="34" charset="-120"/>
              </a:rPr>
              <a:t>have basic outpatient service readiness</a:t>
            </a:r>
            <a:endParaRPr lang="en-US" sz="1400" dirty="0"/>
          </a:p>
        </p:txBody>
      </p:sp>
      <p:sp>
        <p:nvSpPr>
          <p:cNvPr id="21" name="Text 19"/>
          <p:cNvSpPr/>
          <p:nvPr/>
        </p:nvSpPr>
        <p:spPr>
          <a:xfrm>
            <a:off x="7955280" y="3794760"/>
            <a:ext cx="3383280" cy="1005840"/>
          </a:xfrm>
          <a:prstGeom prst="rect">
            <a:avLst/>
          </a:prstGeom>
          <a:noFill/>
          <a:ln/>
        </p:spPr>
        <p:txBody>
          <a:bodyPr wrap="square" lIns="0" tIns="0" rIns="0" bIns="0" rtlCol="0" anchor="t"/>
          <a:lstStyle/>
          <a:p>
            <a:pPr algn="l" indent="0" marL="0">
              <a:lnSpc>
                <a:spcPct val="106000"/>
              </a:lnSpc>
              <a:buNone/>
            </a:pPr>
            <a:r>
              <a:rPr lang="en-US" sz="1200" dirty="0">
                <a:solidFill>
                  <a:srgbClr val="3D524C"/>
                </a:solidFill>
                <a:latin typeface="Calibri" pitchFamily="34" charset="0"/>
                <a:ea typeface="Calibri" pitchFamily="34" charset="-122"/>
                <a:cs typeface="Calibri" pitchFamily="34" charset="-120"/>
              </a:rPr>
              <a:t>A KEPH label is not capability. Only 2% offer all 16 basic services. Routing that ignores readiness sends a family to an empty building — and teaches them to bypass again.</a:t>
            </a:r>
            <a:endParaRPr lang="en-US" sz="1200" dirty="0"/>
          </a:p>
        </p:txBody>
      </p:sp>
      <p:sp>
        <p:nvSpPr>
          <p:cNvPr id="22" name="Text 20"/>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Kenya Health Facility Census 2023 (n=12,384).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CATEGORY</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Everything else starts at the door</a:t>
            </a:r>
            <a:endParaRPr lang="en-US" sz="3800" dirty="0"/>
          </a:p>
        </p:txBody>
      </p:sp>
      <p:sp>
        <p:nvSpPr>
          <p:cNvPr id="4" name="Shape 2"/>
          <p:cNvSpPr/>
          <p:nvPr/>
        </p:nvSpPr>
        <p:spPr>
          <a:xfrm>
            <a:off x="548640" y="1783080"/>
            <a:ext cx="6949440" cy="868680"/>
          </a:xfrm>
          <a:prstGeom prst="roundRect">
            <a:avLst>
              <a:gd name="adj" fmla="val 14737"/>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5" name="Text 3"/>
          <p:cNvSpPr/>
          <p:nvPr/>
        </p:nvSpPr>
        <p:spPr>
          <a:xfrm>
            <a:off x="822960" y="2057400"/>
            <a:ext cx="2286000" cy="329184"/>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Smart Triage / ETAT</a:t>
            </a:r>
            <a:endParaRPr lang="en-US" sz="1500" dirty="0"/>
          </a:p>
        </p:txBody>
      </p:sp>
      <p:sp>
        <p:nvSpPr>
          <p:cNvPr id="6" name="Text 4"/>
          <p:cNvSpPr/>
          <p:nvPr/>
        </p:nvSpPr>
        <p:spPr>
          <a:xfrm>
            <a:off x="3200400" y="2066544"/>
            <a:ext cx="1463040" cy="310896"/>
          </a:xfrm>
          <a:prstGeom prst="rect">
            <a:avLst/>
          </a:prstGeom>
          <a:noFill/>
          <a:ln/>
        </p:spPr>
        <p:txBody>
          <a:bodyPr wrap="square" lIns="0" tIns="0" rIns="0" bIns="0" rtlCol="0" anchor="t"/>
          <a:lstStyle/>
          <a:p>
            <a:pPr algn="l" indent="0" marL="0">
              <a:buNone/>
            </a:pPr>
            <a:r>
              <a:rPr lang="en-US" sz="1300" b="1" dirty="0">
                <a:solidFill>
                  <a:srgbClr val="0F5C4C"/>
                </a:solidFill>
                <a:latin typeface="Calibri" pitchFamily="34" charset="0"/>
                <a:ea typeface="Calibri" pitchFamily="34" charset="-122"/>
                <a:cs typeface="Calibri" pitchFamily="34" charset="-120"/>
              </a:rPr>
              <a:t>In-ED</a:t>
            </a:r>
            <a:endParaRPr lang="en-US" sz="1300" dirty="0"/>
          </a:p>
        </p:txBody>
      </p:sp>
      <p:sp>
        <p:nvSpPr>
          <p:cNvPr id="7" name="Text 5"/>
          <p:cNvSpPr/>
          <p:nvPr/>
        </p:nvSpPr>
        <p:spPr>
          <a:xfrm>
            <a:off x="4754880" y="2002536"/>
            <a:ext cx="2468880" cy="438912"/>
          </a:xfrm>
          <a:prstGeom prst="rect">
            <a:avLst/>
          </a:prstGeom>
          <a:noFill/>
          <a:ln/>
        </p:spPr>
        <p:txBody>
          <a:bodyPr wrap="square" lIns="0" tIns="0" rIns="0" bIns="0" rtlCol="0" anchor="t"/>
          <a:lstStyle/>
          <a:p>
            <a:pPr algn="l" indent="0" marL="0">
              <a:lnSpc>
                <a:spcPct val="105000"/>
              </a:lnSpc>
              <a:buNone/>
            </a:pPr>
            <a:r>
              <a:rPr lang="en-US" sz="1200" dirty="0">
                <a:solidFill>
                  <a:srgbClr val="3D524C"/>
                </a:solidFill>
                <a:latin typeface="Calibri" pitchFamily="34" charset="0"/>
                <a:ea typeface="Calibri" pitchFamily="34" charset="-122"/>
                <a:cs typeface="Calibri" pitchFamily="34" charset="-120"/>
              </a:rPr>
              <a:t>Acuity scoring once the patient has arrived</a:t>
            </a:r>
            <a:endParaRPr lang="en-US" sz="1200" dirty="0"/>
          </a:p>
        </p:txBody>
      </p:sp>
      <p:sp>
        <p:nvSpPr>
          <p:cNvPr id="8" name="Shape 6"/>
          <p:cNvSpPr/>
          <p:nvPr/>
        </p:nvSpPr>
        <p:spPr>
          <a:xfrm>
            <a:off x="548640" y="2743200"/>
            <a:ext cx="6949440" cy="868680"/>
          </a:xfrm>
          <a:prstGeom prst="roundRect">
            <a:avLst>
              <a:gd name="adj" fmla="val 14737"/>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9" name="Text 7"/>
          <p:cNvSpPr/>
          <p:nvPr/>
        </p:nvSpPr>
        <p:spPr>
          <a:xfrm>
            <a:off x="822960" y="3017520"/>
            <a:ext cx="2286000" cy="329184"/>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Referral enforcement</a:t>
            </a:r>
            <a:endParaRPr lang="en-US" sz="1500" dirty="0"/>
          </a:p>
        </p:txBody>
      </p:sp>
      <p:sp>
        <p:nvSpPr>
          <p:cNvPr id="10" name="Text 8"/>
          <p:cNvSpPr/>
          <p:nvPr/>
        </p:nvSpPr>
        <p:spPr>
          <a:xfrm>
            <a:off x="3200400" y="3026664"/>
            <a:ext cx="1463040" cy="310896"/>
          </a:xfrm>
          <a:prstGeom prst="rect">
            <a:avLst/>
          </a:prstGeom>
          <a:noFill/>
          <a:ln/>
        </p:spPr>
        <p:txBody>
          <a:bodyPr wrap="square" lIns="0" tIns="0" rIns="0" bIns="0" rtlCol="0" anchor="t"/>
          <a:lstStyle/>
          <a:p>
            <a:pPr algn="l" indent="0" marL="0">
              <a:buNone/>
            </a:pPr>
            <a:r>
              <a:rPr lang="en-US" sz="1300" b="1" dirty="0">
                <a:solidFill>
                  <a:srgbClr val="0F5C4C"/>
                </a:solidFill>
                <a:latin typeface="Calibri" pitchFamily="34" charset="0"/>
                <a:ea typeface="Calibri" pitchFamily="34" charset="-122"/>
                <a:cs typeface="Calibri" pitchFamily="34" charset="-120"/>
              </a:rPr>
              <a:t>At the door</a:t>
            </a:r>
            <a:endParaRPr lang="en-US" sz="1300" dirty="0"/>
          </a:p>
        </p:txBody>
      </p:sp>
      <p:sp>
        <p:nvSpPr>
          <p:cNvPr id="11" name="Text 9"/>
          <p:cNvSpPr/>
          <p:nvPr/>
        </p:nvSpPr>
        <p:spPr>
          <a:xfrm>
            <a:off x="4754880" y="2962656"/>
            <a:ext cx="2468880" cy="438912"/>
          </a:xfrm>
          <a:prstGeom prst="rect">
            <a:avLst/>
          </a:prstGeom>
          <a:noFill/>
          <a:ln/>
        </p:spPr>
        <p:txBody>
          <a:bodyPr wrap="square" lIns="0" tIns="0" rIns="0" bIns="0" rtlCol="0" anchor="t"/>
          <a:lstStyle/>
          <a:p>
            <a:pPr algn="l" indent="0" marL="0">
              <a:lnSpc>
                <a:spcPct val="105000"/>
              </a:lnSpc>
              <a:buNone/>
            </a:pPr>
            <a:r>
              <a:rPr lang="en-US" sz="1200" dirty="0">
                <a:solidFill>
                  <a:srgbClr val="3D524C"/>
                </a:solidFill>
                <a:latin typeface="Calibri" pitchFamily="34" charset="0"/>
                <a:ea typeface="Calibri" pitchFamily="34" charset="-122"/>
                <a:cs typeface="Calibri" pitchFamily="34" charset="-120"/>
              </a:rPr>
              <a:t>Reactive redirect after the journey is spent</a:t>
            </a:r>
            <a:endParaRPr lang="en-US" sz="1200" dirty="0"/>
          </a:p>
        </p:txBody>
      </p:sp>
      <p:sp>
        <p:nvSpPr>
          <p:cNvPr id="12" name="Shape 10"/>
          <p:cNvSpPr/>
          <p:nvPr/>
        </p:nvSpPr>
        <p:spPr>
          <a:xfrm>
            <a:off x="548640" y="3703320"/>
            <a:ext cx="6949440" cy="868680"/>
          </a:xfrm>
          <a:prstGeom prst="roundRect">
            <a:avLst>
              <a:gd name="adj" fmla="val 14737"/>
            </a:avLst>
          </a:prstGeom>
          <a:solidFill>
            <a:srgbClr val="0F5C4C"/>
          </a:solidFill>
          <a:ln/>
          <a:effectLst>
            <a:outerShdw sx="100000" sy="100000" kx="0" ky="0" algn="bl" rotWithShape="0" blurRad="127000" dist="25400" dir="5400000">
              <a:srgbClr val="14211e">
                <a:alpha val="10000"/>
              </a:srgbClr>
            </a:outerShdw>
          </a:effectLst>
        </p:spPr>
      </p:sp>
      <p:sp>
        <p:nvSpPr>
          <p:cNvPr id="13" name="Text 11"/>
          <p:cNvSpPr/>
          <p:nvPr/>
        </p:nvSpPr>
        <p:spPr>
          <a:xfrm>
            <a:off x="822960" y="3977640"/>
            <a:ext cx="2286000" cy="329184"/>
          </a:xfrm>
          <a:prstGeom prst="rect">
            <a:avLst/>
          </a:prstGeom>
          <a:noFill/>
          <a:ln/>
        </p:spPr>
        <p:txBody>
          <a:bodyPr wrap="square" lIns="0" tIns="0" rIns="0" bIns="0" rtlCol="0" anchor="t"/>
          <a:lstStyle/>
          <a:p>
            <a:pPr algn="l" indent="0" marL="0">
              <a:buNone/>
            </a:pPr>
            <a:r>
              <a:rPr lang="en-US" sz="1500" b="1" dirty="0">
                <a:solidFill>
                  <a:srgbClr val="F4F7F6"/>
                </a:solidFill>
                <a:latin typeface="Calibri" pitchFamily="34" charset="0"/>
                <a:ea typeface="Calibri" pitchFamily="34" charset="-122"/>
                <a:cs typeface="Calibri" pitchFamily="34" charset="-120"/>
              </a:rPr>
              <a:t>CareFlow</a:t>
            </a:r>
            <a:endParaRPr lang="en-US" sz="1500" dirty="0"/>
          </a:p>
        </p:txBody>
      </p:sp>
      <p:sp>
        <p:nvSpPr>
          <p:cNvPr id="14" name="Text 12"/>
          <p:cNvSpPr/>
          <p:nvPr/>
        </p:nvSpPr>
        <p:spPr>
          <a:xfrm>
            <a:off x="3200400" y="3986784"/>
            <a:ext cx="1463040" cy="310896"/>
          </a:xfrm>
          <a:prstGeom prst="rect">
            <a:avLst/>
          </a:prstGeom>
          <a:noFill/>
          <a:ln/>
        </p:spPr>
        <p:txBody>
          <a:bodyPr wrap="square" lIns="0" tIns="0" rIns="0" bIns="0" rtlCol="0" anchor="t"/>
          <a:lstStyle/>
          <a:p>
            <a:pPr algn="l" indent="0" marL="0">
              <a:buNone/>
            </a:pPr>
            <a:r>
              <a:rPr lang="en-US" sz="1300" b="1" dirty="0">
                <a:solidFill>
                  <a:srgbClr val="C5D4CF"/>
                </a:solidFill>
                <a:latin typeface="Calibri" pitchFamily="34" charset="0"/>
                <a:ea typeface="Calibri" pitchFamily="34" charset="-122"/>
                <a:cs typeface="Calibri" pitchFamily="34" charset="-120"/>
              </a:rPr>
              <a:t>Before the door</a:t>
            </a:r>
            <a:endParaRPr lang="en-US" sz="1300" dirty="0"/>
          </a:p>
        </p:txBody>
      </p:sp>
      <p:sp>
        <p:nvSpPr>
          <p:cNvPr id="15" name="Text 13"/>
          <p:cNvSpPr/>
          <p:nvPr/>
        </p:nvSpPr>
        <p:spPr>
          <a:xfrm>
            <a:off x="4754880" y="3922776"/>
            <a:ext cx="2468880" cy="438912"/>
          </a:xfrm>
          <a:prstGeom prst="rect">
            <a:avLst/>
          </a:prstGeom>
          <a:noFill/>
          <a:ln/>
        </p:spPr>
        <p:txBody>
          <a:bodyPr wrap="square" lIns="0" tIns="0" rIns="0" bIns="0" rtlCol="0" anchor="t"/>
          <a:lstStyle/>
          <a:p>
            <a:pPr algn="l" indent="0" marL="0">
              <a:lnSpc>
                <a:spcPct val="105000"/>
              </a:lnSpc>
              <a:buNone/>
            </a:pPr>
            <a:r>
              <a:rPr lang="en-US" sz="1200" dirty="0">
                <a:solidFill>
                  <a:srgbClr val="C5D4CF"/>
                </a:solidFill>
                <a:latin typeface="Calibri" pitchFamily="34" charset="0"/>
                <a:ea typeface="Calibri" pitchFamily="34" charset="-122"/>
                <a:cs typeface="Calibri" pitchFamily="34" charset="-120"/>
              </a:rPr>
              <a:t>Wait-rank, book, SMS — while the family is still home</a:t>
            </a:r>
            <a:endParaRPr lang="en-US" sz="1200" dirty="0"/>
          </a:p>
        </p:txBody>
      </p:sp>
      <p:sp>
        <p:nvSpPr>
          <p:cNvPr id="16" name="Text 14"/>
          <p:cNvSpPr/>
          <p:nvPr/>
        </p:nvSpPr>
        <p:spPr>
          <a:xfrm>
            <a:off x="548640" y="4846320"/>
            <a:ext cx="6949440" cy="868680"/>
          </a:xfrm>
          <a:prstGeom prst="rect">
            <a:avLst/>
          </a:prstGeom>
          <a:noFill/>
          <a:ln/>
        </p:spPr>
        <p:txBody>
          <a:bodyPr wrap="square" lIns="0" tIns="0" rIns="0" bIns="0" rtlCol="0" anchor="t"/>
          <a:lstStyle/>
          <a:p>
            <a:pPr algn="l" indent="0" marL="0">
              <a:lnSpc>
                <a:spcPct val="110000"/>
              </a:lnSpc>
              <a:buNone/>
            </a:pPr>
            <a:r>
              <a:rPr lang="en-US" sz="1150" dirty="0">
                <a:solidFill>
                  <a:srgbClr val="3D524C"/>
                </a:solidFill>
                <a:latin typeface="Calibri" pitchFamily="34" charset="0"/>
                <a:ea typeface="Calibri" pitchFamily="34" charset="-122"/>
                <a:cs typeface="Calibri" pitchFamily="34" charset="-120"/>
              </a:rPr>
              <a:t>Adjacent, but not the wedge: national digital-health rails, private booking marketplaces, teleconsult apps. None of them sits before the door with KEPH level, wait, booking and arrived/no-show in one loop. [Likely]</a:t>
            </a:r>
            <a:endParaRPr lang="en-US" sz="1150" dirty="0"/>
          </a:p>
        </p:txBody>
      </p:sp>
      <p:sp>
        <p:nvSpPr>
          <p:cNvPr id="17" name="Shape 15"/>
          <p:cNvSpPr/>
          <p:nvPr/>
        </p:nvSpPr>
        <p:spPr>
          <a:xfrm>
            <a:off x="7772400" y="1783080"/>
            <a:ext cx="3840480" cy="2788920"/>
          </a:xfrm>
          <a:prstGeom prst="roundRect">
            <a:avLst>
              <a:gd name="adj" fmla="val 4590"/>
            </a:avLst>
          </a:prstGeom>
          <a:solidFill>
            <a:srgbClr val="14211E"/>
          </a:solidFill>
          <a:ln/>
          <a:effectLst>
            <a:outerShdw sx="100000" sy="100000" kx="0" ky="0" algn="bl" rotWithShape="0" blurRad="127000" dist="25400" dir="5400000">
              <a:srgbClr val="14211e">
                <a:alpha val="10000"/>
              </a:srgbClr>
            </a:outerShdw>
          </a:effectLst>
        </p:spPr>
      </p:sp>
      <p:sp>
        <p:nvSpPr>
          <p:cNvPr id="18" name="Text 16"/>
          <p:cNvSpPr/>
          <p:nvPr/>
        </p:nvSpPr>
        <p:spPr>
          <a:xfrm>
            <a:off x="8046720" y="1993392"/>
            <a:ext cx="3291840" cy="274320"/>
          </a:xfrm>
          <a:prstGeom prst="rect">
            <a:avLst/>
          </a:prstGeom>
          <a:noFill/>
          <a:ln/>
        </p:spPr>
        <p:txBody>
          <a:bodyPr wrap="square" lIns="0" tIns="0" rIns="0" bIns="0" rtlCol="0" anchor="t"/>
          <a:lstStyle/>
          <a:p>
            <a:pPr algn="l" indent="0" marL="0">
              <a:buNone/>
            </a:pPr>
            <a:r>
              <a:rPr lang="en-US" sz="1100" b="1" spc="120" kern="0" dirty="0">
                <a:solidFill>
                  <a:srgbClr val="C5D4CF"/>
                </a:solidFill>
                <a:latin typeface="Calibri" pitchFamily="34" charset="0"/>
                <a:ea typeface="Calibri" pitchFamily="34" charset="-122"/>
                <a:cs typeface="Calibri" pitchFamily="34" charset="-120"/>
              </a:rPr>
              <a:t>ANALOG — NOT A KENYA TRIAL</a:t>
            </a:r>
            <a:endParaRPr lang="en-US" sz="1100" dirty="0"/>
          </a:p>
        </p:txBody>
      </p:sp>
      <p:sp>
        <p:nvSpPr>
          <p:cNvPr id="19" name="Text 17"/>
          <p:cNvSpPr/>
          <p:nvPr/>
        </p:nvSpPr>
        <p:spPr>
          <a:xfrm>
            <a:off x="8046720" y="2331720"/>
            <a:ext cx="3291840" cy="731520"/>
          </a:xfrm>
          <a:prstGeom prst="rect">
            <a:avLst/>
          </a:prstGeom>
          <a:noFill/>
          <a:ln/>
        </p:spPr>
        <p:txBody>
          <a:bodyPr wrap="square" lIns="0" tIns="0" rIns="0" bIns="0" rtlCol="0" anchor="t"/>
          <a:lstStyle/>
          <a:p>
            <a:pPr algn="l" indent="0" marL="0">
              <a:buNone/>
            </a:pPr>
            <a:r>
              <a:rPr lang="en-US" sz="4800" b="1" dirty="0">
                <a:solidFill>
                  <a:srgbClr val="F4F7F6"/>
                </a:solidFill>
                <a:latin typeface="Cambria" pitchFamily="34" charset="0"/>
                <a:ea typeface="Cambria" pitchFamily="34" charset="-122"/>
                <a:cs typeface="Cambria" pitchFamily="34" charset="-120"/>
              </a:rPr>
              <a:t>69%</a:t>
            </a:r>
            <a:endParaRPr lang="en-US" sz="4800" dirty="0"/>
          </a:p>
        </p:txBody>
      </p:sp>
      <p:sp>
        <p:nvSpPr>
          <p:cNvPr id="20" name="Text 18"/>
          <p:cNvSpPr/>
          <p:nvPr/>
        </p:nvSpPr>
        <p:spPr>
          <a:xfrm>
            <a:off x="8046720" y="3090672"/>
            <a:ext cx="3291840" cy="502920"/>
          </a:xfrm>
          <a:prstGeom prst="rect">
            <a:avLst/>
          </a:prstGeom>
          <a:noFill/>
          <a:ln/>
        </p:spPr>
        <p:txBody>
          <a:bodyPr wrap="square" lIns="0" tIns="0" rIns="0" bIns="0" rtlCol="0" anchor="t"/>
          <a:lstStyle/>
          <a:p>
            <a:pPr algn="l" indent="0" marL="0">
              <a:buNone/>
            </a:pPr>
            <a:r>
              <a:rPr lang="en-US" sz="1250" dirty="0">
                <a:solidFill>
                  <a:srgbClr val="C5D4CF"/>
                </a:solidFill>
                <a:latin typeface="Calibri" pitchFamily="34" charset="0"/>
                <a:ea typeface="Calibri" pitchFamily="34" charset="-122"/>
                <a:cs typeface="Calibri" pitchFamily="34" charset="-120"/>
              </a:rPr>
              <a:t>of cases avoided an ED visit within 72 hours</a:t>
            </a:r>
            <a:endParaRPr lang="en-US" sz="1250" dirty="0"/>
          </a:p>
        </p:txBody>
      </p:sp>
      <p:sp>
        <p:nvSpPr>
          <p:cNvPr id="21" name="Text 19"/>
          <p:cNvSpPr/>
          <p:nvPr/>
        </p:nvSpPr>
        <p:spPr>
          <a:xfrm>
            <a:off x="8046720" y="3675888"/>
            <a:ext cx="3291840" cy="310896"/>
          </a:xfrm>
          <a:prstGeom prst="rect">
            <a:avLst/>
          </a:prstGeom>
          <a:noFill/>
          <a:ln/>
        </p:spPr>
        <p:txBody>
          <a:bodyPr wrap="square" lIns="0" tIns="0" rIns="0" bIns="0" rtlCol="0" anchor="t"/>
          <a:lstStyle/>
          <a:p>
            <a:pPr algn="l" indent="0" marL="0">
              <a:buNone/>
            </a:pPr>
            <a:r>
              <a:rPr lang="en-US" sz="1600" b="1" dirty="0">
                <a:solidFill>
                  <a:srgbClr val="F4F7F6"/>
                </a:solidFill>
                <a:latin typeface="Calibri" pitchFamily="34" charset="0"/>
                <a:ea typeface="Calibri" pitchFamily="34" charset="-122"/>
                <a:cs typeface="Calibri" pitchFamily="34" charset="-120"/>
              </a:rPr>
              <a:t>4.9% undertriage</a:t>
            </a:r>
            <a:endParaRPr lang="en-US" sz="1600" dirty="0"/>
          </a:p>
        </p:txBody>
      </p:sp>
      <p:sp>
        <p:nvSpPr>
          <p:cNvPr id="22" name="Text 20"/>
          <p:cNvSpPr/>
          <p:nvPr/>
        </p:nvSpPr>
        <p:spPr>
          <a:xfrm>
            <a:off x="8046720" y="4023360"/>
            <a:ext cx="3291840" cy="457200"/>
          </a:xfrm>
          <a:prstGeom prst="rect">
            <a:avLst/>
          </a:prstGeom>
          <a:noFill/>
          <a:ln/>
        </p:spPr>
        <p:txBody>
          <a:bodyPr wrap="square" lIns="0" tIns="0" rIns="0" bIns="0" rtlCol="0" anchor="t"/>
          <a:lstStyle/>
          <a:p>
            <a:pPr algn="l" indent="0" marL="0">
              <a:lnSpc>
                <a:spcPct val="105000"/>
              </a:lnSpc>
              <a:buNone/>
            </a:pPr>
            <a:r>
              <a:rPr lang="en-US" sz="1100" dirty="0">
                <a:solidFill>
                  <a:srgbClr val="C5D4CF"/>
                </a:solidFill>
                <a:latin typeface="Calibri" pitchFamily="34" charset="0"/>
                <a:ea typeface="Calibri" pitchFamily="34" charset="-122"/>
                <a:cs typeface="Calibri" pitchFamily="34" charset="-120"/>
              </a:rPr>
              <a:t>Singapore virtual care centre — an analog, not a Kenya RCT</a:t>
            </a:r>
            <a:endParaRPr lang="en-US" sz="1100" dirty="0"/>
          </a:p>
        </p:txBody>
      </p:sp>
      <p:sp>
        <p:nvSpPr>
          <p:cNvPr id="23" name="Text 21"/>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Singapore virtual care centre: JMIR Formative Research 2026 — analog evidence, not a Kenya randomised trial.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SOLUTION</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Pretriage before the door</a:t>
            </a:r>
            <a:endParaRPr lang="en-US" sz="3800" dirty="0"/>
          </a:p>
        </p:txBody>
      </p:sp>
      <p:sp>
        <p:nvSpPr>
          <p:cNvPr id="4" name="Shape 2"/>
          <p:cNvSpPr/>
          <p:nvPr/>
        </p:nvSpPr>
        <p:spPr>
          <a:xfrm>
            <a:off x="548640" y="1664208"/>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5" name="Text 3"/>
          <p:cNvSpPr/>
          <p:nvPr/>
        </p:nvSpPr>
        <p:spPr>
          <a:xfrm>
            <a:off x="786384" y="1810512"/>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786384" y="2048256"/>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Symptoms</a:t>
            </a:r>
            <a:endParaRPr lang="en-US" sz="1350" dirty="0"/>
          </a:p>
        </p:txBody>
      </p:sp>
      <p:sp>
        <p:nvSpPr>
          <p:cNvPr id="7" name="Text 5"/>
          <p:cNvSpPr/>
          <p:nvPr/>
        </p:nvSpPr>
        <p:spPr>
          <a:xfrm>
            <a:off x="78638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Spoken or typed, English or Kiswahili</a:t>
            </a:r>
            <a:endParaRPr lang="en-US" sz="1050" dirty="0"/>
          </a:p>
        </p:txBody>
      </p:sp>
      <p:sp>
        <p:nvSpPr>
          <p:cNvPr id="8" name="Shape 6"/>
          <p:cNvSpPr/>
          <p:nvPr/>
        </p:nvSpPr>
        <p:spPr>
          <a:xfrm>
            <a:off x="2999232" y="2189988"/>
            <a:ext cx="356616" cy="0"/>
          </a:xfrm>
          <a:prstGeom prst="line">
            <a:avLst/>
          </a:prstGeom>
          <a:noFill/>
          <a:ln w="25400">
            <a:solidFill>
              <a:srgbClr val="0F5C4C"/>
            </a:solidFill>
            <a:prstDash val="solid"/>
            <a:tailEnd type="triangle"/>
          </a:ln>
        </p:spPr>
      </p:sp>
      <p:sp>
        <p:nvSpPr>
          <p:cNvPr id="9" name="Shape 7"/>
          <p:cNvSpPr/>
          <p:nvPr/>
        </p:nvSpPr>
        <p:spPr>
          <a:xfrm>
            <a:off x="3429000" y="1664208"/>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0" name="Text 8"/>
          <p:cNvSpPr/>
          <p:nvPr/>
        </p:nvSpPr>
        <p:spPr>
          <a:xfrm>
            <a:off x="3666744" y="1810512"/>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3666744" y="2048256"/>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Rules + red flags</a:t>
            </a:r>
            <a:endParaRPr lang="en-US" sz="1350" dirty="0"/>
          </a:p>
        </p:txBody>
      </p:sp>
      <p:sp>
        <p:nvSpPr>
          <p:cNvPr id="12" name="Text 10"/>
          <p:cNvSpPr/>
          <p:nvPr/>
        </p:nvSpPr>
        <p:spPr>
          <a:xfrm>
            <a:off x="366674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Catalog match, no free-text diagnosis</a:t>
            </a:r>
            <a:endParaRPr lang="en-US" sz="1050" dirty="0"/>
          </a:p>
        </p:txBody>
      </p:sp>
      <p:sp>
        <p:nvSpPr>
          <p:cNvPr id="13" name="Shape 11"/>
          <p:cNvSpPr/>
          <p:nvPr/>
        </p:nvSpPr>
        <p:spPr>
          <a:xfrm>
            <a:off x="5879592" y="2189988"/>
            <a:ext cx="356616" cy="0"/>
          </a:xfrm>
          <a:prstGeom prst="line">
            <a:avLst/>
          </a:prstGeom>
          <a:noFill/>
          <a:ln w="25400">
            <a:solidFill>
              <a:srgbClr val="0F5C4C"/>
            </a:solidFill>
            <a:prstDash val="solid"/>
            <a:tailEnd type="triangle"/>
          </a:ln>
        </p:spPr>
      </p:sp>
      <p:sp>
        <p:nvSpPr>
          <p:cNvPr id="14" name="Shape 12"/>
          <p:cNvSpPr/>
          <p:nvPr/>
        </p:nvSpPr>
        <p:spPr>
          <a:xfrm>
            <a:off x="6309360" y="1664208"/>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5" name="Text 13"/>
          <p:cNvSpPr/>
          <p:nvPr/>
        </p:nvSpPr>
        <p:spPr>
          <a:xfrm>
            <a:off x="6547104" y="1810512"/>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6547104" y="2048256"/>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KEPH minimum</a:t>
            </a:r>
            <a:endParaRPr lang="en-US" sz="1350" dirty="0"/>
          </a:p>
        </p:txBody>
      </p:sp>
      <p:sp>
        <p:nvSpPr>
          <p:cNvPr id="17" name="Text 15"/>
          <p:cNvSpPr/>
          <p:nvPr/>
        </p:nvSpPr>
        <p:spPr>
          <a:xfrm>
            <a:off x="654710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The lowest level that can safely cope</a:t>
            </a:r>
            <a:endParaRPr lang="en-US" sz="1050" dirty="0"/>
          </a:p>
        </p:txBody>
      </p:sp>
      <p:sp>
        <p:nvSpPr>
          <p:cNvPr id="18" name="Shape 16"/>
          <p:cNvSpPr/>
          <p:nvPr/>
        </p:nvSpPr>
        <p:spPr>
          <a:xfrm>
            <a:off x="8759952" y="2189988"/>
            <a:ext cx="356616" cy="0"/>
          </a:xfrm>
          <a:prstGeom prst="line">
            <a:avLst/>
          </a:prstGeom>
          <a:noFill/>
          <a:ln w="25400">
            <a:solidFill>
              <a:srgbClr val="0F5C4C"/>
            </a:solidFill>
            <a:prstDash val="solid"/>
            <a:tailEnd type="triangle"/>
          </a:ln>
        </p:spPr>
      </p:sp>
      <p:sp>
        <p:nvSpPr>
          <p:cNvPr id="19" name="Shape 17"/>
          <p:cNvSpPr/>
          <p:nvPr/>
        </p:nvSpPr>
        <p:spPr>
          <a:xfrm>
            <a:off x="9189720" y="1664208"/>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20" name="Text 18"/>
          <p:cNvSpPr/>
          <p:nvPr/>
        </p:nvSpPr>
        <p:spPr>
          <a:xfrm>
            <a:off x="9427464" y="1810512"/>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9427464" y="2048256"/>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Filter facilities</a:t>
            </a:r>
            <a:endParaRPr lang="en-US" sz="1350" dirty="0"/>
          </a:p>
        </p:txBody>
      </p:sp>
      <p:sp>
        <p:nvSpPr>
          <p:cNvPr id="22" name="Text 20"/>
          <p:cNvSpPr/>
          <p:nvPr/>
        </p:nvSpPr>
        <p:spPr>
          <a:xfrm>
            <a:off x="9427464" y="2340864"/>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Only levels at or above the minimum</a:t>
            </a:r>
            <a:endParaRPr lang="en-US" sz="1050" dirty="0"/>
          </a:p>
        </p:txBody>
      </p:sp>
      <p:sp>
        <p:nvSpPr>
          <p:cNvPr id="23" name="Shape 21"/>
          <p:cNvSpPr/>
          <p:nvPr/>
        </p:nvSpPr>
        <p:spPr>
          <a:xfrm>
            <a:off x="548640" y="3017520"/>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24" name="Text 22"/>
          <p:cNvSpPr/>
          <p:nvPr/>
        </p:nvSpPr>
        <p:spPr>
          <a:xfrm>
            <a:off x="786384" y="316382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5</a:t>
            </a:r>
            <a:endParaRPr lang="en-US" sz="1400" dirty="0"/>
          </a:p>
        </p:txBody>
      </p:sp>
      <p:sp>
        <p:nvSpPr>
          <p:cNvPr id="25" name="Text 23"/>
          <p:cNvSpPr/>
          <p:nvPr/>
        </p:nvSpPr>
        <p:spPr>
          <a:xfrm>
            <a:off x="786384" y="3401568"/>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Rank</a:t>
            </a:r>
            <a:endParaRPr lang="en-US" sz="1350" dirty="0"/>
          </a:p>
        </p:txBody>
      </p:sp>
      <p:sp>
        <p:nvSpPr>
          <p:cNvPr id="26" name="Text 24"/>
          <p:cNvSpPr/>
          <p:nvPr/>
        </p:nvSpPr>
        <p:spPr>
          <a:xfrm>
            <a:off x="78638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Lowest reported wait, then nearest</a:t>
            </a:r>
            <a:endParaRPr lang="en-US" sz="1050" dirty="0"/>
          </a:p>
        </p:txBody>
      </p:sp>
      <p:sp>
        <p:nvSpPr>
          <p:cNvPr id="27" name="Shape 25"/>
          <p:cNvSpPr/>
          <p:nvPr/>
        </p:nvSpPr>
        <p:spPr>
          <a:xfrm>
            <a:off x="2999232" y="3543300"/>
            <a:ext cx="356616" cy="0"/>
          </a:xfrm>
          <a:prstGeom prst="line">
            <a:avLst/>
          </a:prstGeom>
          <a:noFill/>
          <a:ln w="25400">
            <a:solidFill>
              <a:srgbClr val="0F5C4C"/>
            </a:solidFill>
            <a:prstDash val="solid"/>
            <a:tailEnd type="triangle"/>
          </a:ln>
        </p:spPr>
      </p:sp>
      <p:sp>
        <p:nvSpPr>
          <p:cNvPr id="28" name="Shape 26"/>
          <p:cNvSpPr/>
          <p:nvPr/>
        </p:nvSpPr>
        <p:spPr>
          <a:xfrm>
            <a:off x="3429000" y="3017520"/>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29" name="Text 27"/>
          <p:cNvSpPr/>
          <p:nvPr/>
        </p:nvSpPr>
        <p:spPr>
          <a:xfrm>
            <a:off x="3666744" y="316382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6</a:t>
            </a:r>
            <a:endParaRPr lang="en-US" sz="1400" dirty="0"/>
          </a:p>
        </p:txBody>
      </p:sp>
      <p:sp>
        <p:nvSpPr>
          <p:cNvPr id="30" name="Text 28"/>
          <p:cNvSpPr/>
          <p:nvPr/>
        </p:nvSpPr>
        <p:spPr>
          <a:xfrm>
            <a:off x="3666744" y="3401568"/>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Book</a:t>
            </a:r>
            <a:endParaRPr lang="en-US" sz="1350" dirty="0"/>
          </a:p>
        </p:txBody>
      </p:sp>
      <p:sp>
        <p:nvSpPr>
          <p:cNvPr id="31" name="Text 29"/>
          <p:cNvSpPr/>
          <p:nvPr/>
        </p:nvSpPr>
        <p:spPr>
          <a:xfrm>
            <a:off x="366674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A named slot the desk can see</a:t>
            </a:r>
            <a:endParaRPr lang="en-US" sz="1050" dirty="0"/>
          </a:p>
        </p:txBody>
      </p:sp>
      <p:sp>
        <p:nvSpPr>
          <p:cNvPr id="32" name="Shape 30"/>
          <p:cNvSpPr/>
          <p:nvPr/>
        </p:nvSpPr>
        <p:spPr>
          <a:xfrm>
            <a:off x="5879592" y="3543300"/>
            <a:ext cx="356616" cy="0"/>
          </a:xfrm>
          <a:prstGeom prst="line">
            <a:avLst/>
          </a:prstGeom>
          <a:noFill/>
          <a:ln w="25400">
            <a:solidFill>
              <a:srgbClr val="0F5C4C"/>
            </a:solidFill>
            <a:prstDash val="solid"/>
            <a:tailEnd type="triangle"/>
          </a:ln>
        </p:spPr>
      </p:sp>
      <p:sp>
        <p:nvSpPr>
          <p:cNvPr id="33" name="Shape 31"/>
          <p:cNvSpPr/>
          <p:nvPr/>
        </p:nvSpPr>
        <p:spPr>
          <a:xfrm>
            <a:off x="6309360" y="3017520"/>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34" name="Text 32"/>
          <p:cNvSpPr/>
          <p:nvPr/>
        </p:nvSpPr>
        <p:spPr>
          <a:xfrm>
            <a:off x="6547104" y="316382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7</a:t>
            </a:r>
            <a:endParaRPr lang="en-US" sz="1400" dirty="0"/>
          </a:p>
        </p:txBody>
      </p:sp>
      <p:sp>
        <p:nvSpPr>
          <p:cNvPr id="35" name="Text 33"/>
          <p:cNvSpPr/>
          <p:nvPr/>
        </p:nvSpPr>
        <p:spPr>
          <a:xfrm>
            <a:off x="6547104" y="3401568"/>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SMS / voice</a:t>
            </a:r>
            <a:endParaRPr lang="en-US" sz="1350" dirty="0"/>
          </a:p>
        </p:txBody>
      </p:sp>
      <p:sp>
        <p:nvSpPr>
          <p:cNvPr id="36" name="Text 34"/>
          <p:cNvSpPr/>
          <p:nvPr/>
        </p:nvSpPr>
        <p:spPr>
          <a:xfrm>
            <a:off x="654710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The plan reaches the family phone</a:t>
            </a:r>
            <a:endParaRPr lang="en-US" sz="1050" dirty="0"/>
          </a:p>
        </p:txBody>
      </p:sp>
      <p:sp>
        <p:nvSpPr>
          <p:cNvPr id="37" name="Shape 35"/>
          <p:cNvSpPr/>
          <p:nvPr/>
        </p:nvSpPr>
        <p:spPr>
          <a:xfrm>
            <a:off x="8759952" y="3543300"/>
            <a:ext cx="356616" cy="0"/>
          </a:xfrm>
          <a:prstGeom prst="line">
            <a:avLst/>
          </a:prstGeom>
          <a:noFill/>
          <a:ln w="25400">
            <a:solidFill>
              <a:srgbClr val="0F5C4C"/>
            </a:solidFill>
            <a:prstDash val="solid"/>
            <a:tailEnd type="triangle"/>
          </a:ln>
        </p:spPr>
      </p:sp>
      <p:sp>
        <p:nvSpPr>
          <p:cNvPr id="38" name="Shape 36"/>
          <p:cNvSpPr/>
          <p:nvPr/>
        </p:nvSpPr>
        <p:spPr>
          <a:xfrm>
            <a:off x="9189720" y="3017520"/>
            <a:ext cx="2377440" cy="1051560"/>
          </a:xfrm>
          <a:prstGeom prst="roundRect">
            <a:avLst>
              <a:gd name="adj" fmla="val 1217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39" name="Text 37"/>
          <p:cNvSpPr/>
          <p:nvPr/>
        </p:nvSpPr>
        <p:spPr>
          <a:xfrm>
            <a:off x="9427464" y="316382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8</a:t>
            </a:r>
            <a:endParaRPr lang="en-US" sz="1400" dirty="0"/>
          </a:p>
        </p:txBody>
      </p:sp>
      <p:sp>
        <p:nvSpPr>
          <p:cNvPr id="40" name="Text 38"/>
          <p:cNvSpPr/>
          <p:nvPr/>
        </p:nvSpPr>
        <p:spPr>
          <a:xfrm>
            <a:off x="9427464" y="3401568"/>
            <a:ext cx="1901952" cy="292608"/>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Arrived / no-show</a:t>
            </a:r>
            <a:endParaRPr lang="en-US" sz="1350" dirty="0"/>
          </a:p>
        </p:txBody>
      </p:sp>
      <p:sp>
        <p:nvSpPr>
          <p:cNvPr id="41" name="Text 39"/>
          <p:cNvSpPr/>
          <p:nvPr/>
        </p:nvSpPr>
        <p:spPr>
          <a:xfrm>
            <a:off x="9427464" y="3694176"/>
            <a:ext cx="1901952" cy="329184"/>
          </a:xfrm>
          <a:prstGeom prst="rect">
            <a:avLst/>
          </a:prstGeom>
          <a:noFill/>
          <a:ln/>
        </p:spPr>
        <p:txBody>
          <a:bodyPr wrap="square" lIns="0" tIns="0" rIns="0" bIns="0" rtlCol="0" anchor="t"/>
          <a:lstStyle/>
          <a:p>
            <a:pPr algn="l" indent="0" marL="0">
              <a:lnSpc>
                <a:spcPct val="105000"/>
              </a:lnSpc>
              <a:buNone/>
            </a:pPr>
            <a:r>
              <a:rPr lang="en-US" sz="1050" dirty="0">
                <a:solidFill>
                  <a:srgbClr val="3D524C"/>
                </a:solidFill>
                <a:latin typeface="Calibri" pitchFamily="34" charset="0"/>
                <a:ea typeface="Calibri" pitchFamily="34" charset="-122"/>
                <a:cs typeface="Calibri" pitchFamily="34" charset="-120"/>
              </a:rPr>
              <a:t>Desk closes the loop</a:t>
            </a:r>
            <a:endParaRPr lang="en-US" sz="1050" dirty="0"/>
          </a:p>
        </p:txBody>
      </p:sp>
      <p:sp>
        <p:nvSpPr>
          <p:cNvPr id="42" name="Shape 40"/>
          <p:cNvSpPr/>
          <p:nvPr/>
        </p:nvSpPr>
        <p:spPr>
          <a:xfrm>
            <a:off x="11292840" y="2743200"/>
            <a:ext cx="0" cy="256032"/>
          </a:xfrm>
          <a:prstGeom prst="line">
            <a:avLst/>
          </a:prstGeom>
          <a:noFill/>
          <a:ln w="25400">
            <a:solidFill>
              <a:srgbClr val="0F5C4C"/>
            </a:solidFill>
            <a:prstDash val="solid"/>
            <a:tailEnd type="triangle"/>
          </a:ln>
        </p:spPr>
      </p:sp>
      <p:sp>
        <p:nvSpPr>
          <p:cNvPr id="43" name="Shape 41"/>
          <p:cNvSpPr/>
          <p:nvPr/>
        </p:nvSpPr>
        <p:spPr>
          <a:xfrm>
            <a:off x="548640" y="4297680"/>
            <a:ext cx="6675120" cy="1188720"/>
          </a:xfrm>
          <a:prstGeom prst="roundRect">
            <a:avLst>
              <a:gd name="adj" fmla="val 10769"/>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44" name="Text 42"/>
          <p:cNvSpPr/>
          <p:nvPr/>
        </p:nvSpPr>
        <p:spPr>
          <a:xfrm>
            <a:off x="822960" y="4480560"/>
            <a:ext cx="6126480" cy="274320"/>
          </a:xfrm>
          <a:prstGeom prst="rect">
            <a:avLst/>
          </a:prstGeom>
          <a:noFill/>
          <a:ln/>
        </p:spPr>
        <p:txBody>
          <a:bodyPr wrap="square" lIns="0" tIns="0" rIns="0" bIns="0" rtlCol="0" anchor="t"/>
          <a:lstStyle/>
          <a:p>
            <a:pPr algn="l" indent="0" marL="0">
              <a:buNone/>
            </a:pPr>
            <a:r>
              <a:rPr lang="en-US" sz="1150" b="1" spc="140" kern="0" dirty="0">
                <a:solidFill>
                  <a:srgbClr val="0F5C4C"/>
                </a:solidFill>
                <a:latin typeface="Calibri" pitchFamily="34" charset="0"/>
                <a:ea typeface="Calibri" pitchFamily="34" charset="-122"/>
                <a:cs typeface="Calibri" pitchFamily="34" charset="-120"/>
              </a:rPr>
              <a:t>RANKING RULE</a:t>
            </a:r>
            <a:endParaRPr lang="en-US" sz="1150" dirty="0"/>
          </a:p>
        </p:txBody>
      </p:sp>
      <p:sp>
        <p:nvSpPr>
          <p:cNvPr id="45" name="Text 43"/>
          <p:cNvSpPr/>
          <p:nvPr/>
        </p:nvSpPr>
        <p:spPr>
          <a:xfrm>
            <a:off x="822960" y="4791456"/>
            <a:ext cx="6126480" cy="292608"/>
          </a:xfrm>
          <a:prstGeom prst="rect">
            <a:avLst/>
          </a:prstGeom>
          <a:noFill/>
          <a:ln/>
        </p:spPr>
        <p:txBody>
          <a:bodyPr wrap="square" lIns="0" tIns="0" rIns="0" bIns="0" rtlCol="0" anchor="t"/>
          <a:lstStyle/>
          <a:p>
            <a:pPr algn="l" indent="0" marL="0">
              <a:buNone/>
            </a:pPr>
            <a:r>
              <a:rPr lang="en-US" sz="1200" b="1" dirty="0">
                <a:solidFill>
                  <a:srgbClr val="14211E"/>
                </a:solidFill>
                <a:latin typeface="Courier New" pitchFamily="34" charset="0"/>
                <a:ea typeface="Courier New" pitchFamily="34" charset="-122"/>
                <a:cs typeface="Courier New" pitchFamily="34" charset="-120"/>
              </a:rPr>
              <a:t>keph_level &gt;= keph_min   →   lowest wait_count   →   nearest</a:t>
            </a:r>
            <a:endParaRPr lang="en-US" sz="1200" dirty="0"/>
          </a:p>
        </p:txBody>
      </p:sp>
      <p:sp>
        <p:nvSpPr>
          <p:cNvPr id="46" name="Text 44"/>
          <p:cNvSpPr/>
          <p:nvPr/>
        </p:nvSpPr>
        <p:spPr>
          <a:xfrm>
            <a:off x="822960" y="5120640"/>
            <a:ext cx="6126480" cy="292608"/>
          </a:xfrm>
          <a:prstGeom prst="rect">
            <a:avLst/>
          </a:prstGeom>
          <a:noFill/>
          <a:ln/>
        </p:spPr>
        <p:txBody>
          <a:bodyPr wrap="square" lIns="0" tIns="0" rIns="0" bIns="0" rtlCol="0" anchor="t"/>
          <a:lstStyle/>
          <a:p>
            <a:pPr algn="l" indent="0" marL="0">
              <a:buNone/>
            </a:pPr>
            <a:r>
              <a:rPr lang="en-US" sz="1200" dirty="0">
                <a:solidFill>
                  <a:srgbClr val="3D524C"/>
                </a:solidFill>
                <a:latin typeface="Calibri" pitchFamily="34" charset="0"/>
                <a:ea typeface="Calibri" pitchFamily="34" charset="-122"/>
                <a:cs typeface="Calibri" pitchFamily="34" charset="-120"/>
              </a:rPr>
              <a:t>Wait first, distance second — or everyone piles into the nearest rumour.</a:t>
            </a:r>
            <a:endParaRPr lang="en-US" sz="1200" dirty="0"/>
          </a:p>
        </p:txBody>
      </p:sp>
      <p:sp>
        <p:nvSpPr>
          <p:cNvPr id="47" name="Shape 45"/>
          <p:cNvSpPr/>
          <p:nvPr/>
        </p:nvSpPr>
        <p:spPr>
          <a:xfrm>
            <a:off x="7680960" y="4297680"/>
            <a:ext cx="3931920" cy="1188720"/>
          </a:xfrm>
          <a:prstGeom prst="roundRect">
            <a:avLst>
              <a:gd name="adj" fmla="val 10769"/>
            </a:avLst>
          </a:prstGeom>
          <a:solidFill>
            <a:srgbClr val="FDE8E8"/>
          </a:solidFill>
          <a:ln/>
          <a:effectLst>
            <a:outerShdw sx="100000" sy="100000" kx="0" ky="0" algn="bl" rotWithShape="0" blurRad="127000" dist="25400" dir="5400000">
              <a:srgbClr val="14211e">
                <a:alpha val="10000"/>
              </a:srgbClr>
            </a:outerShdw>
          </a:effectLst>
        </p:spPr>
      </p:sp>
      <p:sp>
        <p:nvSpPr>
          <p:cNvPr id="48" name="Text 46"/>
          <p:cNvSpPr/>
          <p:nvPr/>
        </p:nvSpPr>
        <p:spPr>
          <a:xfrm>
            <a:off x="7955280" y="4480560"/>
            <a:ext cx="3383280" cy="274320"/>
          </a:xfrm>
          <a:prstGeom prst="rect">
            <a:avLst/>
          </a:prstGeom>
          <a:noFill/>
          <a:ln/>
        </p:spPr>
        <p:txBody>
          <a:bodyPr wrap="square" lIns="0" tIns="0" rIns="0" bIns="0" rtlCol="0" anchor="t"/>
          <a:lstStyle/>
          <a:p>
            <a:pPr algn="l" indent="0" marL="0">
              <a:buNone/>
            </a:pPr>
            <a:r>
              <a:rPr lang="en-US" sz="1150" b="1" spc="140" kern="0" dirty="0">
                <a:solidFill>
                  <a:srgbClr val="9B1C1C"/>
                </a:solidFill>
                <a:latin typeface="Calibri" pitchFamily="34" charset="0"/>
                <a:ea typeface="Calibri" pitchFamily="34" charset="-122"/>
                <a:cs typeface="Calibri" pitchFamily="34" charset="-120"/>
              </a:rPr>
              <a:t>RED FLAG</a:t>
            </a:r>
            <a:endParaRPr lang="en-US" sz="1150" dirty="0"/>
          </a:p>
        </p:txBody>
      </p:sp>
      <p:sp>
        <p:nvSpPr>
          <p:cNvPr id="49" name="Text 47"/>
          <p:cNvSpPr/>
          <p:nvPr/>
        </p:nvSpPr>
        <p:spPr>
          <a:xfrm>
            <a:off x="7955280" y="4773168"/>
            <a:ext cx="3383280" cy="310896"/>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Nearest KEPH 4+, ignore wait.</a:t>
            </a:r>
            <a:endParaRPr lang="en-US" sz="1500" dirty="0"/>
          </a:p>
        </p:txBody>
      </p:sp>
      <p:sp>
        <p:nvSpPr>
          <p:cNvPr id="50" name="Text 48"/>
          <p:cNvSpPr/>
          <p:nvPr/>
        </p:nvSpPr>
        <p:spPr>
          <a:xfrm>
            <a:off x="7955280" y="5120640"/>
            <a:ext cx="3383280" cy="310896"/>
          </a:xfrm>
          <a:prstGeom prst="rect">
            <a:avLst/>
          </a:prstGeom>
          <a:noFill/>
          <a:ln/>
        </p:spPr>
        <p:txBody>
          <a:bodyPr wrap="square" lIns="0" tIns="0" rIns="0" bIns="0" rtlCol="0" anchor="t"/>
          <a:lstStyle/>
          <a:p>
            <a:pPr algn="l" indent="0" marL="0">
              <a:buNone/>
            </a:pPr>
            <a:r>
              <a:rPr lang="en-US" sz="1150" dirty="0">
                <a:solidFill>
                  <a:srgbClr val="3D524C"/>
                </a:solidFill>
                <a:latin typeface="Calibri" pitchFamily="34" charset="0"/>
                <a:ea typeface="Calibri" pitchFamily="34" charset="-122"/>
                <a:cs typeface="Calibri" pitchFamily="34" charset="-120"/>
              </a:rPr>
              <a:t>Booking still allowed; the desk sees them.</a:t>
            </a:r>
            <a:endParaRPr lang="en-US" sz="1150" dirty="0"/>
          </a:p>
        </p:txBody>
      </p:sp>
      <p:sp>
        <p:nvSpPr>
          <p:cNvPr id="51" name="Text 49"/>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Loop and invariants: docs/product-map/03-end-to-end.md.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APPLICATION — CARE-SEEKER</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From symptoms to a booked slot</a:t>
            </a:r>
            <a:endParaRPr lang="en-US" sz="3800" dirty="0"/>
          </a:p>
        </p:txBody>
      </p:sp>
      <p:sp>
        <p:nvSpPr>
          <p:cNvPr id="4" name="Shape 2"/>
          <p:cNvSpPr/>
          <p:nvPr/>
        </p:nvSpPr>
        <p:spPr>
          <a:xfrm>
            <a:off x="548640" y="1828800"/>
            <a:ext cx="2011680" cy="1783080"/>
          </a:xfrm>
          <a:prstGeom prst="roundRect">
            <a:avLst>
              <a:gd name="adj" fmla="val 7179"/>
            </a:avLst>
          </a:prstGeom>
          <a:solidFill>
            <a:srgbClr val="FDE8E8"/>
          </a:solidFill>
          <a:ln/>
          <a:effectLst>
            <a:outerShdw sx="100000" sy="100000" kx="0" ky="0" algn="bl" rotWithShape="0" blurRad="127000" dist="25400" dir="5400000">
              <a:srgbClr val="14211e">
                <a:alpha val="10000"/>
              </a:srgbClr>
            </a:outerShdw>
          </a:effectLst>
        </p:spPr>
      </p:sp>
      <p:sp>
        <p:nvSpPr>
          <p:cNvPr id="5" name="Text 3"/>
          <p:cNvSpPr/>
          <p:nvPr/>
        </p:nvSpPr>
        <p:spPr>
          <a:xfrm>
            <a:off x="786384" y="1975104"/>
            <a:ext cx="548640" cy="274320"/>
          </a:xfrm>
          <a:prstGeom prst="rect">
            <a:avLst/>
          </a:prstGeom>
          <a:noFill/>
          <a:ln/>
        </p:spPr>
        <p:txBody>
          <a:bodyPr wrap="square" lIns="0" tIns="0" rIns="0" bIns="0" rtlCol="0" anchor="t"/>
          <a:lstStyle/>
          <a:p>
            <a:pPr algn="l" indent="0" marL="0">
              <a:buNone/>
            </a:pPr>
            <a:r>
              <a:rPr lang="en-US" sz="1400" b="1" dirty="0">
                <a:solidFill>
                  <a:srgbClr val="9B1C1C"/>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786384" y="2286000"/>
            <a:ext cx="1536192" cy="530352"/>
          </a:xfrm>
          <a:prstGeom prst="rect">
            <a:avLst/>
          </a:prstGeom>
          <a:noFill/>
          <a:ln/>
        </p:spPr>
        <p:txBody>
          <a:bodyPr wrap="square" lIns="0" tIns="0" rIns="0" bIns="0" rtlCol="0" anchor="t"/>
          <a:lstStyle/>
          <a:p>
            <a:pPr algn="l" indent="0" marL="0">
              <a:buNone/>
            </a:pPr>
            <a:r>
              <a:rPr lang="en-US" sz="1400" b="1" dirty="0">
                <a:solidFill>
                  <a:srgbClr val="14211E"/>
                </a:solidFill>
                <a:latin typeface="Calibri" pitchFamily="34" charset="0"/>
                <a:ea typeface="Calibri" pitchFamily="34" charset="-122"/>
                <a:cs typeface="Calibri" pitchFamily="34" charset="-120"/>
              </a:rPr>
              <a:t>Disclaimer + 999</a:t>
            </a:r>
            <a:endParaRPr lang="en-US" sz="1400" dirty="0"/>
          </a:p>
        </p:txBody>
      </p:sp>
      <p:sp>
        <p:nvSpPr>
          <p:cNvPr id="7" name="Text 5"/>
          <p:cNvSpPr/>
          <p:nvPr/>
        </p:nvSpPr>
        <p:spPr>
          <a:xfrm>
            <a:off x="786384"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4C"/>
                </a:solidFill>
                <a:latin typeface="Calibri" pitchFamily="34" charset="0"/>
                <a:ea typeface="Calibri" pitchFamily="34" charset="-122"/>
                <a:cs typeface="Calibri" pitchFamily="34" charset="-120"/>
              </a:rPr>
              <a:t>Emergencies leave the app immediately</a:t>
            </a:r>
            <a:endParaRPr lang="en-US" sz="1150" dirty="0"/>
          </a:p>
        </p:txBody>
      </p:sp>
      <p:sp>
        <p:nvSpPr>
          <p:cNvPr id="8" name="Shape 6"/>
          <p:cNvSpPr/>
          <p:nvPr/>
        </p:nvSpPr>
        <p:spPr>
          <a:xfrm>
            <a:off x="2615184" y="2715768"/>
            <a:ext cx="182880" cy="0"/>
          </a:xfrm>
          <a:prstGeom prst="line">
            <a:avLst/>
          </a:prstGeom>
          <a:noFill/>
          <a:ln w="25400">
            <a:solidFill>
              <a:srgbClr val="0F5C4C"/>
            </a:solidFill>
            <a:prstDash val="solid"/>
            <a:tailEnd type="triangle"/>
          </a:ln>
        </p:spPr>
      </p:sp>
      <p:sp>
        <p:nvSpPr>
          <p:cNvPr id="9" name="Shape 7"/>
          <p:cNvSpPr/>
          <p:nvPr/>
        </p:nvSpPr>
        <p:spPr>
          <a:xfrm>
            <a:off x="2816352" y="1828800"/>
            <a:ext cx="2011680" cy="1783080"/>
          </a:xfrm>
          <a:prstGeom prst="roundRect">
            <a:avLst>
              <a:gd name="adj" fmla="val 7179"/>
            </a:avLst>
          </a:prstGeom>
          <a:solidFill>
            <a:srgbClr val="FFFFFF"/>
          </a:solidFill>
          <a:ln/>
          <a:effectLst>
            <a:outerShdw sx="100000" sy="100000" kx="0" ky="0" algn="bl" rotWithShape="0" blurRad="127000" dist="25400" dir="5400000">
              <a:srgbClr val="14211e">
                <a:alpha val="10000"/>
              </a:srgbClr>
            </a:outerShdw>
          </a:effectLst>
        </p:spPr>
      </p:sp>
      <p:sp>
        <p:nvSpPr>
          <p:cNvPr id="10" name="Text 8"/>
          <p:cNvSpPr/>
          <p:nvPr/>
        </p:nvSpPr>
        <p:spPr>
          <a:xfrm>
            <a:off x="3054096" y="197510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3054096" y="2286000"/>
            <a:ext cx="1536192" cy="530352"/>
          </a:xfrm>
          <a:prstGeom prst="rect">
            <a:avLst/>
          </a:prstGeom>
          <a:noFill/>
          <a:ln/>
        </p:spPr>
        <p:txBody>
          <a:bodyPr wrap="square" lIns="0" tIns="0" rIns="0" bIns="0" rtlCol="0" anchor="t"/>
          <a:lstStyle/>
          <a:p>
            <a:pPr algn="l" indent="0" marL="0">
              <a:buNone/>
            </a:pPr>
            <a:r>
              <a:rPr lang="en-US" sz="1400" b="1" dirty="0">
                <a:solidFill>
                  <a:srgbClr val="14211E"/>
                </a:solidFill>
                <a:latin typeface="Calibri" pitchFamily="34" charset="0"/>
                <a:ea typeface="Calibri" pitchFamily="34" charset="-122"/>
                <a:cs typeface="Calibri" pitchFamily="34" charset="-120"/>
              </a:rPr>
              <a:t>Speak or type</a:t>
            </a:r>
            <a:endParaRPr lang="en-US" sz="1400" dirty="0"/>
          </a:p>
        </p:txBody>
      </p:sp>
      <p:sp>
        <p:nvSpPr>
          <p:cNvPr id="12" name="Text 10"/>
          <p:cNvSpPr/>
          <p:nvPr/>
        </p:nvSpPr>
        <p:spPr>
          <a:xfrm>
            <a:off x="3054096"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4C"/>
                </a:solidFill>
                <a:latin typeface="Calibri" pitchFamily="34" charset="0"/>
                <a:ea typeface="Calibri" pitchFamily="34" charset="-122"/>
                <a:cs typeface="Calibri" pitchFamily="34" charset="-120"/>
              </a:rPr>
              <a:t>Voice first; typing is the fallback</a:t>
            </a:r>
            <a:endParaRPr lang="en-US" sz="1150" dirty="0"/>
          </a:p>
        </p:txBody>
      </p:sp>
      <p:sp>
        <p:nvSpPr>
          <p:cNvPr id="13" name="Shape 11"/>
          <p:cNvSpPr/>
          <p:nvPr/>
        </p:nvSpPr>
        <p:spPr>
          <a:xfrm>
            <a:off x="4882896" y="2715768"/>
            <a:ext cx="182880" cy="0"/>
          </a:xfrm>
          <a:prstGeom prst="line">
            <a:avLst/>
          </a:prstGeom>
          <a:noFill/>
          <a:ln w="25400">
            <a:solidFill>
              <a:srgbClr val="0F5C4C"/>
            </a:solidFill>
            <a:prstDash val="solid"/>
            <a:tailEnd type="triangle"/>
          </a:ln>
        </p:spPr>
      </p:sp>
      <p:sp>
        <p:nvSpPr>
          <p:cNvPr id="14" name="Shape 12"/>
          <p:cNvSpPr/>
          <p:nvPr/>
        </p:nvSpPr>
        <p:spPr>
          <a:xfrm>
            <a:off x="5084064" y="1828800"/>
            <a:ext cx="2011680" cy="1783080"/>
          </a:xfrm>
          <a:prstGeom prst="roundRect">
            <a:avLst>
              <a:gd name="adj" fmla="val 7179"/>
            </a:avLst>
          </a:prstGeom>
          <a:solidFill>
            <a:srgbClr val="FFFFFF"/>
          </a:solidFill>
          <a:ln/>
          <a:effectLst>
            <a:outerShdw sx="100000" sy="100000" kx="0" ky="0" algn="bl" rotWithShape="0" blurRad="127000" dist="25400" dir="5400000">
              <a:srgbClr val="14211e">
                <a:alpha val="10000"/>
              </a:srgbClr>
            </a:outerShdw>
          </a:effectLst>
        </p:spPr>
      </p:sp>
      <p:sp>
        <p:nvSpPr>
          <p:cNvPr id="15" name="Text 13"/>
          <p:cNvSpPr/>
          <p:nvPr/>
        </p:nvSpPr>
        <p:spPr>
          <a:xfrm>
            <a:off x="5321808" y="197510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5321808" y="2286000"/>
            <a:ext cx="1536192" cy="530352"/>
          </a:xfrm>
          <a:prstGeom prst="rect">
            <a:avLst/>
          </a:prstGeom>
          <a:noFill/>
          <a:ln/>
        </p:spPr>
        <p:txBody>
          <a:bodyPr wrap="square" lIns="0" tIns="0" rIns="0" bIns="0" rtlCol="0" anchor="t"/>
          <a:lstStyle/>
          <a:p>
            <a:pPr algn="l" indent="0" marL="0">
              <a:buNone/>
            </a:pPr>
            <a:r>
              <a:rPr lang="en-US" sz="1400" b="1" dirty="0">
                <a:solidFill>
                  <a:srgbClr val="14211E"/>
                </a:solidFill>
                <a:latin typeface="Calibri" pitchFamily="34" charset="0"/>
                <a:ea typeface="Calibri" pitchFamily="34" charset="-122"/>
                <a:cs typeface="Calibri" pitchFamily="34" charset="-120"/>
              </a:rPr>
              <a:t>Ranked options</a:t>
            </a:r>
            <a:endParaRPr lang="en-US" sz="1400" dirty="0"/>
          </a:p>
        </p:txBody>
      </p:sp>
      <p:sp>
        <p:nvSpPr>
          <p:cNvPr id="17" name="Text 15"/>
          <p:cNvSpPr/>
          <p:nvPr/>
        </p:nvSpPr>
        <p:spPr>
          <a:xfrm>
            <a:off x="5321808"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4C"/>
                </a:solidFill>
                <a:latin typeface="Calibri" pitchFamily="34" charset="0"/>
                <a:ea typeface="Calibri" pitchFamily="34" charset="-122"/>
                <a:cs typeface="Calibri" pitchFamily="34" charset="-120"/>
              </a:rPr>
              <a:t>Right level, shortest reported wait</a:t>
            </a:r>
            <a:endParaRPr lang="en-US" sz="1150" dirty="0"/>
          </a:p>
        </p:txBody>
      </p:sp>
      <p:sp>
        <p:nvSpPr>
          <p:cNvPr id="18" name="Shape 16"/>
          <p:cNvSpPr/>
          <p:nvPr/>
        </p:nvSpPr>
        <p:spPr>
          <a:xfrm>
            <a:off x="7150608" y="2715768"/>
            <a:ext cx="182880" cy="0"/>
          </a:xfrm>
          <a:prstGeom prst="line">
            <a:avLst/>
          </a:prstGeom>
          <a:noFill/>
          <a:ln w="25400">
            <a:solidFill>
              <a:srgbClr val="0F5C4C"/>
            </a:solidFill>
            <a:prstDash val="solid"/>
            <a:tailEnd type="triangle"/>
          </a:ln>
        </p:spPr>
      </p:sp>
      <p:sp>
        <p:nvSpPr>
          <p:cNvPr id="19" name="Shape 17"/>
          <p:cNvSpPr/>
          <p:nvPr/>
        </p:nvSpPr>
        <p:spPr>
          <a:xfrm>
            <a:off x="7351776" y="1828800"/>
            <a:ext cx="2011680" cy="1783080"/>
          </a:xfrm>
          <a:prstGeom prst="roundRect">
            <a:avLst>
              <a:gd name="adj" fmla="val 7179"/>
            </a:avLst>
          </a:prstGeom>
          <a:solidFill>
            <a:srgbClr val="FFFFFF"/>
          </a:solidFill>
          <a:ln/>
          <a:effectLst>
            <a:outerShdw sx="100000" sy="100000" kx="0" ky="0" algn="bl" rotWithShape="0" blurRad="127000" dist="25400" dir="5400000">
              <a:srgbClr val="14211e">
                <a:alpha val="10000"/>
              </a:srgbClr>
            </a:outerShdw>
          </a:effectLst>
        </p:spPr>
      </p:sp>
      <p:sp>
        <p:nvSpPr>
          <p:cNvPr id="20" name="Text 18"/>
          <p:cNvSpPr/>
          <p:nvPr/>
        </p:nvSpPr>
        <p:spPr>
          <a:xfrm>
            <a:off x="7589520" y="197510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7589520" y="2286000"/>
            <a:ext cx="1536192" cy="530352"/>
          </a:xfrm>
          <a:prstGeom prst="rect">
            <a:avLst/>
          </a:prstGeom>
          <a:noFill/>
          <a:ln/>
        </p:spPr>
        <p:txBody>
          <a:bodyPr wrap="square" lIns="0" tIns="0" rIns="0" bIns="0" rtlCol="0" anchor="t"/>
          <a:lstStyle/>
          <a:p>
            <a:pPr algn="l" indent="0" marL="0">
              <a:buNone/>
            </a:pPr>
            <a:r>
              <a:rPr lang="en-US" sz="1400" b="1" dirty="0">
                <a:solidFill>
                  <a:srgbClr val="14211E"/>
                </a:solidFill>
                <a:latin typeface="Calibri" pitchFamily="34" charset="0"/>
                <a:ea typeface="Calibri" pitchFamily="34" charset="-122"/>
                <a:cs typeface="Calibri" pitchFamily="34" charset="-120"/>
              </a:rPr>
              <a:t>Book</a:t>
            </a:r>
            <a:endParaRPr lang="en-US" sz="1400" dirty="0"/>
          </a:p>
        </p:txBody>
      </p:sp>
      <p:sp>
        <p:nvSpPr>
          <p:cNvPr id="22" name="Text 20"/>
          <p:cNvSpPr/>
          <p:nvPr/>
        </p:nvSpPr>
        <p:spPr>
          <a:xfrm>
            <a:off x="7589520"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4C"/>
                </a:solidFill>
                <a:latin typeface="Calibri" pitchFamily="34" charset="0"/>
                <a:ea typeface="Calibri" pitchFamily="34" charset="-122"/>
                <a:cs typeface="Calibri" pitchFamily="34" charset="-120"/>
              </a:rPr>
              <a:t>One tap, one named slot</a:t>
            </a:r>
            <a:endParaRPr lang="en-US" sz="1150" dirty="0"/>
          </a:p>
        </p:txBody>
      </p:sp>
      <p:sp>
        <p:nvSpPr>
          <p:cNvPr id="23" name="Shape 21"/>
          <p:cNvSpPr/>
          <p:nvPr/>
        </p:nvSpPr>
        <p:spPr>
          <a:xfrm>
            <a:off x="9418320" y="2715768"/>
            <a:ext cx="182880" cy="0"/>
          </a:xfrm>
          <a:prstGeom prst="line">
            <a:avLst/>
          </a:prstGeom>
          <a:noFill/>
          <a:ln w="25400">
            <a:solidFill>
              <a:srgbClr val="0F5C4C"/>
            </a:solidFill>
            <a:prstDash val="solid"/>
            <a:tailEnd type="triangle"/>
          </a:ln>
        </p:spPr>
      </p:sp>
      <p:sp>
        <p:nvSpPr>
          <p:cNvPr id="24" name="Shape 22"/>
          <p:cNvSpPr/>
          <p:nvPr/>
        </p:nvSpPr>
        <p:spPr>
          <a:xfrm>
            <a:off x="9619488" y="1828800"/>
            <a:ext cx="2011680" cy="1783080"/>
          </a:xfrm>
          <a:prstGeom prst="roundRect">
            <a:avLst>
              <a:gd name="adj" fmla="val 7179"/>
            </a:avLst>
          </a:prstGeom>
          <a:solidFill>
            <a:srgbClr val="FFFFFF"/>
          </a:solidFill>
          <a:ln/>
          <a:effectLst>
            <a:outerShdw sx="100000" sy="100000" kx="0" ky="0" algn="bl" rotWithShape="0" blurRad="127000" dist="25400" dir="5400000">
              <a:srgbClr val="14211e">
                <a:alpha val="10000"/>
              </a:srgbClr>
            </a:outerShdw>
          </a:effectLst>
        </p:spPr>
      </p:sp>
      <p:sp>
        <p:nvSpPr>
          <p:cNvPr id="25" name="Text 23"/>
          <p:cNvSpPr/>
          <p:nvPr/>
        </p:nvSpPr>
        <p:spPr>
          <a:xfrm>
            <a:off x="9857232" y="1975104"/>
            <a:ext cx="548640" cy="274320"/>
          </a:xfrm>
          <a:prstGeom prst="rect">
            <a:avLst/>
          </a:prstGeom>
          <a:noFill/>
          <a:ln/>
        </p:spPr>
        <p:txBody>
          <a:bodyPr wrap="square" lIns="0" tIns="0" rIns="0" bIns="0" rtlCol="0" anchor="t"/>
          <a:lstStyle/>
          <a:p>
            <a:pPr algn="l" indent="0" marL="0">
              <a:buNone/>
            </a:pPr>
            <a:r>
              <a:rPr lang="en-US" sz="1400" b="1" dirty="0">
                <a:solidFill>
                  <a:srgbClr val="0F5C4C"/>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9857232" y="2286000"/>
            <a:ext cx="1536192" cy="530352"/>
          </a:xfrm>
          <a:prstGeom prst="rect">
            <a:avLst/>
          </a:prstGeom>
          <a:noFill/>
          <a:ln/>
        </p:spPr>
        <p:txBody>
          <a:bodyPr wrap="square" lIns="0" tIns="0" rIns="0" bIns="0" rtlCol="0" anchor="t"/>
          <a:lstStyle/>
          <a:p>
            <a:pPr algn="l" indent="0" marL="0">
              <a:buNone/>
            </a:pPr>
            <a:r>
              <a:rPr lang="en-US" sz="1400" b="1" dirty="0">
                <a:solidFill>
                  <a:srgbClr val="14211E"/>
                </a:solidFill>
                <a:latin typeface="Calibri" pitchFamily="34" charset="0"/>
                <a:ea typeface="Calibri" pitchFamily="34" charset="-122"/>
                <a:cs typeface="Calibri" pitchFamily="34" charset="-120"/>
              </a:rPr>
              <a:t>SMS</a:t>
            </a:r>
            <a:endParaRPr lang="en-US" sz="1400" dirty="0"/>
          </a:p>
        </p:txBody>
      </p:sp>
      <p:sp>
        <p:nvSpPr>
          <p:cNvPr id="27" name="Text 25"/>
          <p:cNvSpPr/>
          <p:nvPr/>
        </p:nvSpPr>
        <p:spPr>
          <a:xfrm>
            <a:off x="9857232" y="2852928"/>
            <a:ext cx="1536192" cy="630936"/>
          </a:xfrm>
          <a:prstGeom prst="rect">
            <a:avLst/>
          </a:prstGeom>
          <a:noFill/>
          <a:ln/>
        </p:spPr>
        <p:txBody>
          <a:bodyPr wrap="square" lIns="0" tIns="0" rIns="0" bIns="0" rtlCol="0" anchor="t"/>
          <a:lstStyle/>
          <a:p>
            <a:pPr algn="l" indent="0" marL="0">
              <a:lnSpc>
                <a:spcPct val="105000"/>
              </a:lnSpc>
              <a:buNone/>
            </a:pPr>
            <a:r>
              <a:rPr lang="en-US" sz="1150" dirty="0">
                <a:solidFill>
                  <a:srgbClr val="3D524C"/>
                </a:solidFill>
                <a:latin typeface="Calibri" pitchFamily="34" charset="0"/>
                <a:ea typeface="Calibri" pitchFamily="34" charset="-122"/>
                <a:cs typeface="Calibri" pitchFamily="34" charset="-120"/>
              </a:rPr>
              <a:t>The plan lands on the family phone</a:t>
            </a:r>
            <a:endParaRPr lang="en-US" sz="1150" dirty="0"/>
          </a:p>
        </p:txBody>
      </p:sp>
      <p:sp>
        <p:nvSpPr>
          <p:cNvPr id="28" name="Shape 26"/>
          <p:cNvSpPr/>
          <p:nvPr/>
        </p:nvSpPr>
        <p:spPr>
          <a:xfrm>
            <a:off x="548640" y="3886200"/>
            <a:ext cx="5394960" cy="1600200"/>
          </a:xfrm>
          <a:prstGeom prst="roundRect">
            <a:avLst>
              <a:gd name="adj" fmla="val 8000"/>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29" name="Text 27"/>
          <p:cNvSpPr/>
          <p:nvPr/>
        </p:nvSpPr>
        <p:spPr>
          <a:xfrm>
            <a:off x="841248" y="4114800"/>
            <a:ext cx="4809744" cy="329184"/>
          </a:xfrm>
          <a:prstGeom prst="rect">
            <a:avLst/>
          </a:prstGeom>
          <a:noFill/>
          <a:ln/>
        </p:spPr>
        <p:txBody>
          <a:bodyPr wrap="square" lIns="0" tIns="0" rIns="0" bIns="0" rtlCol="0" anchor="t"/>
          <a:lstStyle/>
          <a:p>
            <a:pPr algn="l" indent="0" marL="0">
              <a:buNone/>
            </a:pPr>
            <a:r>
              <a:rPr lang="en-US" sz="1600" b="1" dirty="0">
                <a:solidFill>
                  <a:srgbClr val="14211E"/>
                </a:solidFill>
                <a:latin typeface="Calibri" pitchFamily="34" charset="0"/>
                <a:ea typeface="Calibri" pitchFamily="34" charset="-122"/>
                <a:cs typeface="Calibri" pitchFamily="34" charset="-120"/>
              </a:rPr>
              <a:t>Voice-first, English and Kiswahili</a:t>
            </a:r>
            <a:endParaRPr lang="en-US" sz="1600" dirty="0"/>
          </a:p>
        </p:txBody>
      </p:sp>
      <p:sp>
        <p:nvSpPr>
          <p:cNvPr id="30" name="Text 28"/>
          <p:cNvSpPr/>
          <p:nvPr/>
        </p:nvSpPr>
        <p:spPr>
          <a:xfrm>
            <a:off x="841248" y="4498848"/>
            <a:ext cx="4809744" cy="868680"/>
          </a:xfrm>
          <a:prstGeom prst="rect">
            <a:avLst/>
          </a:prstGeom>
          <a:noFill/>
          <a:ln/>
        </p:spPr>
        <p:txBody>
          <a:bodyPr wrap="square" lIns="0" tIns="0" rIns="0" bIns="0" rtlCol="0" anchor="t"/>
          <a:lstStyle/>
          <a:p>
            <a:pPr algn="l" indent="0" marL="0">
              <a:lnSpc>
                <a:spcPct val="110000"/>
              </a:lnSpc>
              <a:buNone/>
            </a:pPr>
            <a:r>
              <a:rPr lang="en-US" sz="1300" dirty="0">
                <a:solidFill>
                  <a:srgbClr val="3D524C"/>
                </a:solidFill>
                <a:latin typeface="Calibri" pitchFamily="34" charset="0"/>
                <a:ea typeface="Calibri" pitchFamily="34" charset="-122"/>
                <a:cs typeface="Calibri" pitchFamily="34" charset="-120"/>
              </a:rPr>
              <a:t>Consent before the microphone opens. A family with low literacy or low vision still gets a path that is not typing, and the ranked list is read back aloud.</a:t>
            </a:r>
            <a:endParaRPr lang="en-US" sz="1300" dirty="0"/>
          </a:p>
        </p:txBody>
      </p:sp>
      <p:sp>
        <p:nvSpPr>
          <p:cNvPr id="31" name="Shape 29"/>
          <p:cNvSpPr/>
          <p:nvPr/>
        </p:nvSpPr>
        <p:spPr>
          <a:xfrm>
            <a:off x="6309360" y="3886200"/>
            <a:ext cx="5303520" cy="1600200"/>
          </a:xfrm>
          <a:prstGeom prst="roundRect">
            <a:avLst>
              <a:gd name="adj" fmla="val 8000"/>
            </a:avLst>
          </a:prstGeom>
          <a:solidFill>
            <a:srgbClr val="0F5C4C"/>
          </a:solidFill>
          <a:ln/>
          <a:effectLst>
            <a:outerShdw sx="100000" sy="100000" kx="0" ky="0" algn="bl" rotWithShape="0" blurRad="127000" dist="25400" dir="5400000">
              <a:srgbClr val="14211e">
                <a:alpha val="10000"/>
              </a:srgbClr>
            </a:outerShdw>
          </a:effectLst>
        </p:spPr>
      </p:sp>
      <p:sp>
        <p:nvSpPr>
          <p:cNvPr id="32" name="Text 30"/>
          <p:cNvSpPr/>
          <p:nvPr/>
        </p:nvSpPr>
        <p:spPr>
          <a:xfrm>
            <a:off x="6601968" y="4114800"/>
            <a:ext cx="4718304" cy="329184"/>
          </a:xfrm>
          <a:prstGeom prst="rect">
            <a:avLst/>
          </a:prstGeom>
          <a:noFill/>
          <a:ln/>
        </p:spPr>
        <p:txBody>
          <a:bodyPr wrap="square" lIns="0" tIns="0" rIns="0" bIns="0" rtlCol="0" anchor="t"/>
          <a:lstStyle/>
          <a:p>
            <a:pPr algn="l" indent="0" marL="0">
              <a:buNone/>
            </a:pPr>
            <a:r>
              <a:rPr lang="en-US" sz="1600" b="1" dirty="0">
                <a:solidFill>
                  <a:srgbClr val="F4F7F6"/>
                </a:solidFill>
                <a:latin typeface="Calibri" pitchFamily="34" charset="0"/>
                <a:ea typeface="Calibri" pitchFamily="34" charset="-122"/>
                <a:cs typeface="Calibri" pitchFamily="34" charset="-120"/>
              </a:rPr>
              <a:t>It never names a disease</a:t>
            </a:r>
            <a:endParaRPr lang="en-US" sz="1600" dirty="0"/>
          </a:p>
        </p:txBody>
      </p:sp>
      <p:sp>
        <p:nvSpPr>
          <p:cNvPr id="33" name="Text 31"/>
          <p:cNvSpPr/>
          <p:nvPr/>
        </p:nvSpPr>
        <p:spPr>
          <a:xfrm>
            <a:off x="6601968" y="4498848"/>
            <a:ext cx="4718304" cy="868680"/>
          </a:xfrm>
          <a:prstGeom prst="rect">
            <a:avLst/>
          </a:prstGeom>
          <a:noFill/>
          <a:ln/>
        </p:spPr>
        <p:txBody>
          <a:bodyPr wrap="square" lIns="0" tIns="0" rIns="0" bIns="0" rtlCol="0" anchor="t"/>
          <a:lstStyle/>
          <a:p>
            <a:pPr algn="l" indent="0" marL="0">
              <a:lnSpc>
                <a:spcPct val="110000"/>
              </a:lnSpc>
              <a:buNone/>
            </a:pPr>
            <a:r>
              <a:rPr lang="en-US" sz="1300" dirty="0">
                <a:solidFill>
                  <a:srgbClr val="C5D4CF"/>
                </a:solidFill>
                <a:latin typeface="Calibri" pitchFamily="34" charset="0"/>
                <a:ea typeface="Calibri" pitchFamily="34" charset="-122"/>
                <a:cs typeface="Calibri" pitchFamily="34" charset="-120"/>
              </a:rPr>
              <a:t>CareFlow maps symptoms to a minimum care level and a queue. There is no diagnosis, no prescription, and no claim to be a medical device — the output is a facility and a time.</a:t>
            </a:r>
            <a:endParaRPr lang="en-US" sz="1300" dirty="0"/>
          </a:p>
        </p:txBody>
      </p:sp>
      <p:sp>
        <p:nvSpPr>
          <p:cNvPr id="34" name="Text 32"/>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PWA journey for /patient — docs/product-map/01-language.md, 06-scenarios.md. Diagram, not a product screenshot.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APPLICATION — HOSPITAL DESK</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The hospital side is not optional</a:t>
            </a:r>
            <a:endParaRPr lang="en-US" sz="3800" dirty="0"/>
          </a:p>
        </p:txBody>
      </p:sp>
      <p:sp>
        <p:nvSpPr>
          <p:cNvPr id="4" name="Shape 2"/>
          <p:cNvSpPr/>
          <p:nvPr/>
        </p:nvSpPr>
        <p:spPr>
          <a:xfrm>
            <a:off x="548640" y="1783080"/>
            <a:ext cx="3931920" cy="2606040"/>
          </a:xfrm>
          <a:prstGeom prst="roundRect">
            <a:avLst>
              <a:gd name="adj" fmla="val 4912"/>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5" name="Text 3"/>
          <p:cNvSpPr/>
          <p:nvPr/>
        </p:nvSpPr>
        <p:spPr>
          <a:xfrm>
            <a:off x="841248" y="2011680"/>
            <a:ext cx="3346704" cy="347472"/>
          </a:xfrm>
          <a:prstGeom prst="rect">
            <a:avLst/>
          </a:prstGeom>
          <a:noFill/>
          <a:ln/>
        </p:spPr>
        <p:txBody>
          <a:bodyPr wrap="square" lIns="0" tIns="0" rIns="0" bIns="0" rtlCol="0" anchor="t"/>
          <a:lstStyle/>
          <a:p>
            <a:pPr algn="l" indent="0" marL="0">
              <a:buNone/>
            </a:pPr>
            <a:r>
              <a:rPr lang="en-US" sz="1800" b="1" dirty="0">
                <a:solidFill>
                  <a:srgbClr val="14211E"/>
                </a:solidFill>
                <a:latin typeface="Calibri" pitchFamily="34" charset="0"/>
                <a:ea typeface="Calibri" pitchFamily="34" charset="-122"/>
                <a:cs typeface="Calibri" pitchFamily="34" charset="-120"/>
              </a:rPr>
              <a:t>Care-seeker</a:t>
            </a:r>
            <a:endParaRPr lang="en-US" sz="1800" dirty="0"/>
          </a:p>
        </p:txBody>
      </p:sp>
      <p:sp>
        <p:nvSpPr>
          <p:cNvPr id="6" name="Text 4"/>
          <p:cNvSpPr/>
          <p:nvPr/>
        </p:nvSpPr>
        <p:spPr>
          <a:xfrm>
            <a:off x="841248" y="2487168"/>
            <a:ext cx="3346704" cy="1645920"/>
          </a:xfrm>
          <a:prstGeom prst="rect">
            <a:avLst/>
          </a:prstGeom>
          <a:noFill/>
          <a:ln/>
        </p:spPr>
        <p:txBody>
          <a:bodyPr wrap="square" lIns="0" tIns="0" rIns="0" bIns="0" rtlCol="0" anchor="t"/>
          <a:lstStyle/>
          <a:p>
            <a:pPr algn="l" marL="342900" indent="-342900">
              <a:spcAft>
                <a:spcPts val="800"/>
              </a:spcAft>
              <a:buSzPct val="100000"/>
              <a:buChar char="•"/>
            </a:pPr>
            <a:r>
              <a:rPr lang="en-US" sz="1350" dirty="0">
                <a:solidFill>
                  <a:srgbClr val="3D524C"/>
                </a:solidFill>
                <a:latin typeface="Calibri" pitchFamily="34" charset="0"/>
                <a:ea typeface="Calibri" pitchFamily="34" charset="-122"/>
                <a:cs typeface="Calibri" pitchFamily="34" charset="-120"/>
              </a:rPr>
              <a:t>Sees the ranked options</a:t>
            </a:r>
            <a:endParaRPr lang="en-US" sz="1350" dirty="0"/>
          </a:p>
          <a:p>
            <a:pPr algn="l" marL="342900" indent="-342900">
              <a:spcAft>
                <a:spcPts val="800"/>
              </a:spcAft>
              <a:buSzPct val="100000"/>
              <a:buChar char="•"/>
            </a:pPr>
            <a:r>
              <a:rPr lang="en-US" sz="1350" dirty="0">
                <a:solidFill>
                  <a:srgbClr val="3D524C"/>
                </a:solidFill>
                <a:latin typeface="Calibri" pitchFamily="34" charset="0"/>
                <a:ea typeface="Calibri" pitchFamily="34" charset="-122"/>
                <a:cs typeface="Calibri" pitchFamily="34" charset="-120"/>
              </a:rPr>
              <a:t>Books one named slot</a:t>
            </a:r>
            <a:endParaRPr lang="en-US" sz="1350" dirty="0"/>
          </a:p>
          <a:p>
            <a:pPr algn="l" marL="342900" indent="-342900">
              <a:spcAft>
                <a:spcPts val="800"/>
              </a:spcAft>
              <a:buSzPct val="100000"/>
              <a:buChar char="•"/>
            </a:pPr>
            <a:r>
              <a:rPr lang="en-US" sz="1350" dirty="0">
                <a:solidFill>
                  <a:srgbClr val="3D524C"/>
                </a:solidFill>
                <a:latin typeface="Calibri" pitchFamily="34" charset="0"/>
                <a:ea typeface="Calibri" pitchFamily="34" charset="-122"/>
                <a:cs typeface="Calibri" pitchFamily="34" charset="-120"/>
              </a:rPr>
              <a:t>Travels with the plan by SMS</a:t>
            </a:r>
            <a:endParaRPr lang="en-US" sz="1350" dirty="0"/>
          </a:p>
        </p:txBody>
      </p:sp>
      <p:sp>
        <p:nvSpPr>
          <p:cNvPr id="7" name="Shape 5"/>
          <p:cNvSpPr/>
          <p:nvPr/>
        </p:nvSpPr>
        <p:spPr>
          <a:xfrm>
            <a:off x="4892040" y="2377440"/>
            <a:ext cx="2377440" cy="1417320"/>
          </a:xfrm>
          <a:prstGeom prst="roundRect">
            <a:avLst>
              <a:gd name="adj" fmla="val 9032"/>
            </a:avLst>
          </a:prstGeom>
          <a:solidFill>
            <a:srgbClr val="0F5C4C"/>
          </a:solidFill>
          <a:ln/>
          <a:effectLst>
            <a:outerShdw sx="100000" sy="100000" kx="0" ky="0" algn="bl" rotWithShape="0" blurRad="127000" dist="25400" dir="5400000">
              <a:srgbClr val="14211e">
                <a:alpha val="10000"/>
              </a:srgbClr>
            </a:outerShdw>
          </a:effectLst>
        </p:spPr>
      </p:sp>
      <p:sp>
        <p:nvSpPr>
          <p:cNvPr id="8" name="Text 6"/>
          <p:cNvSpPr/>
          <p:nvPr/>
        </p:nvSpPr>
        <p:spPr>
          <a:xfrm>
            <a:off x="5120640" y="2578608"/>
            <a:ext cx="1920240" cy="274320"/>
          </a:xfrm>
          <a:prstGeom prst="rect">
            <a:avLst/>
          </a:prstGeom>
          <a:noFill/>
          <a:ln/>
        </p:spPr>
        <p:txBody>
          <a:bodyPr wrap="square" lIns="0" tIns="0" rIns="0" bIns="0" rtlCol="0" anchor="t"/>
          <a:lstStyle/>
          <a:p>
            <a:pPr algn="l" indent="0" marL="0">
              <a:buNone/>
            </a:pPr>
            <a:r>
              <a:rPr lang="en-US" sz="1150" b="1" spc="140" kern="0" dirty="0">
                <a:solidFill>
                  <a:srgbClr val="C5D4CF"/>
                </a:solidFill>
                <a:latin typeface="Calibri" pitchFamily="34" charset="0"/>
                <a:ea typeface="Calibri" pitchFamily="34" charset="-122"/>
                <a:cs typeface="Calibri" pitchFamily="34" charset="-120"/>
              </a:rPr>
              <a:t>BOOKING</a:t>
            </a:r>
            <a:endParaRPr lang="en-US" sz="1150" dirty="0"/>
          </a:p>
        </p:txBody>
      </p:sp>
      <p:sp>
        <p:nvSpPr>
          <p:cNvPr id="9" name="Text 7"/>
          <p:cNvSpPr/>
          <p:nvPr/>
        </p:nvSpPr>
        <p:spPr>
          <a:xfrm>
            <a:off x="5120640" y="2889504"/>
            <a:ext cx="1920240" cy="310896"/>
          </a:xfrm>
          <a:prstGeom prst="rect">
            <a:avLst/>
          </a:prstGeom>
          <a:noFill/>
          <a:ln/>
        </p:spPr>
        <p:txBody>
          <a:bodyPr wrap="square" lIns="0" tIns="0" rIns="0" bIns="0" rtlCol="0" anchor="t"/>
          <a:lstStyle/>
          <a:p>
            <a:pPr algn="l" indent="0" marL="0">
              <a:buNone/>
            </a:pPr>
            <a:r>
              <a:rPr lang="en-US" sz="1800" b="1" dirty="0">
                <a:solidFill>
                  <a:srgbClr val="F4F7F6"/>
                </a:solidFill>
                <a:latin typeface="Calibri" pitchFamily="34" charset="0"/>
                <a:ea typeface="Calibri" pitchFamily="34" charset="-122"/>
                <a:cs typeface="Calibri" pitchFamily="34" charset="-120"/>
              </a:rPr>
              <a:t>The join</a:t>
            </a:r>
            <a:endParaRPr lang="en-US" sz="1800" dirty="0"/>
          </a:p>
        </p:txBody>
      </p:sp>
      <p:sp>
        <p:nvSpPr>
          <p:cNvPr id="10" name="Text 8"/>
          <p:cNvSpPr/>
          <p:nvPr/>
        </p:nvSpPr>
        <p:spPr>
          <a:xfrm>
            <a:off x="5120640" y="3236976"/>
            <a:ext cx="1920240" cy="457200"/>
          </a:xfrm>
          <a:prstGeom prst="rect">
            <a:avLst/>
          </a:prstGeom>
          <a:noFill/>
          <a:ln/>
        </p:spPr>
        <p:txBody>
          <a:bodyPr wrap="square" lIns="0" tIns="0" rIns="0" bIns="0" rtlCol="0" anchor="t"/>
          <a:lstStyle/>
          <a:p>
            <a:pPr algn="l" indent="0" marL="0">
              <a:lnSpc>
                <a:spcPct val="105000"/>
              </a:lnSpc>
              <a:buNone/>
            </a:pPr>
            <a:r>
              <a:rPr lang="en-US" sz="1100" dirty="0">
                <a:solidFill>
                  <a:srgbClr val="C5D4CF"/>
                </a:solidFill>
                <a:latin typeface="Calibri" pitchFamily="34" charset="0"/>
                <a:ea typeface="Calibri" pitchFamily="34" charset="-122"/>
                <a:cs typeface="Calibri" pitchFamily="34" charset="-120"/>
              </a:rPr>
              <a:t>One row both sides can see</a:t>
            </a:r>
            <a:endParaRPr lang="en-US" sz="1100" dirty="0"/>
          </a:p>
        </p:txBody>
      </p:sp>
      <p:sp>
        <p:nvSpPr>
          <p:cNvPr id="11" name="Shape 9"/>
          <p:cNvSpPr/>
          <p:nvPr/>
        </p:nvSpPr>
        <p:spPr>
          <a:xfrm>
            <a:off x="4553712" y="3081528"/>
            <a:ext cx="274320" cy="0"/>
          </a:xfrm>
          <a:prstGeom prst="line">
            <a:avLst/>
          </a:prstGeom>
          <a:noFill/>
          <a:ln w="25400">
            <a:solidFill>
              <a:srgbClr val="0F5C4C"/>
            </a:solidFill>
            <a:prstDash val="solid"/>
            <a:tailEnd type="triangle"/>
          </a:ln>
        </p:spPr>
      </p:sp>
      <p:sp>
        <p:nvSpPr>
          <p:cNvPr id="12" name="Shape 10"/>
          <p:cNvSpPr/>
          <p:nvPr/>
        </p:nvSpPr>
        <p:spPr>
          <a:xfrm>
            <a:off x="7342632" y="3081528"/>
            <a:ext cx="274320" cy="0"/>
          </a:xfrm>
          <a:prstGeom prst="line">
            <a:avLst/>
          </a:prstGeom>
          <a:noFill/>
          <a:ln w="25400">
            <a:solidFill>
              <a:srgbClr val="0F5C4C"/>
            </a:solidFill>
            <a:prstDash val="solid"/>
            <a:tailEnd type="triangle"/>
          </a:ln>
        </p:spPr>
      </p:sp>
      <p:sp>
        <p:nvSpPr>
          <p:cNvPr id="13" name="Shape 11"/>
          <p:cNvSpPr/>
          <p:nvPr/>
        </p:nvSpPr>
        <p:spPr>
          <a:xfrm>
            <a:off x="7680960" y="1783080"/>
            <a:ext cx="3931920" cy="2606040"/>
          </a:xfrm>
          <a:prstGeom prst="roundRect">
            <a:avLst>
              <a:gd name="adj" fmla="val 4912"/>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4" name="Text 12"/>
          <p:cNvSpPr/>
          <p:nvPr/>
        </p:nvSpPr>
        <p:spPr>
          <a:xfrm>
            <a:off x="7973568" y="2011680"/>
            <a:ext cx="3346704" cy="347472"/>
          </a:xfrm>
          <a:prstGeom prst="rect">
            <a:avLst/>
          </a:prstGeom>
          <a:noFill/>
          <a:ln/>
        </p:spPr>
        <p:txBody>
          <a:bodyPr wrap="square" lIns="0" tIns="0" rIns="0" bIns="0" rtlCol="0" anchor="t"/>
          <a:lstStyle/>
          <a:p>
            <a:pPr algn="l" indent="0" marL="0">
              <a:buNone/>
            </a:pPr>
            <a:r>
              <a:rPr lang="en-US" sz="1800" b="1" dirty="0">
                <a:solidFill>
                  <a:srgbClr val="14211E"/>
                </a:solidFill>
                <a:latin typeface="Calibri" pitchFamily="34" charset="0"/>
                <a:ea typeface="Calibri" pitchFamily="34" charset="-122"/>
                <a:cs typeface="Calibri" pitchFamily="34" charset="-120"/>
              </a:rPr>
              <a:t>Hospital desk</a:t>
            </a:r>
            <a:endParaRPr lang="en-US" sz="1800" dirty="0"/>
          </a:p>
        </p:txBody>
      </p:sp>
      <p:sp>
        <p:nvSpPr>
          <p:cNvPr id="15" name="Text 13"/>
          <p:cNvSpPr/>
          <p:nvPr/>
        </p:nvSpPr>
        <p:spPr>
          <a:xfrm>
            <a:off x="7973568" y="2487168"/>
            <a:ext cx="3346704" cy="1645920"/>
          </a:xfrm>
          <a:prstGeom prst="rect">
            <a:avLst/>
          </a:prstGeom>
          <a:noFill/>
          <a:ln/>
        </p:spPr>
        <p:txBody>
          <a:bodyPr wrap="square" lIns="0" tIns="0" rIns="0" bIns="0" rtlCol="0" anchor="t"/>
          <a:lstStyle/>
          <a:p>
            <a:pPr algn="l" marL="342900" indent="-342900">
              <a:spcAft>
                <a:spcPts val="800"/>
              </a:spcAft>
              <a:buSzPct val="100000"/>
              <a:buChar char="•"/>
            </a:pPr>
            <a:r>
              <a:rPr lang="en-US" sz="1350" dirty="0">
                <a:solidFill>
                  <a:srgbClr val="3D524C"/>
                </a:solidFill>
                <a:latin typeface="Calibri" pitchFamily="34" charset="0"/>
                <a:ea typeface="Calibri" pitchFamily="34" charset="-122"/>
                <a:cs typeface="Calibri" pitchFamily="34" charset="-120"/>
              </a:rPr>
              <a:t>Types people waiting (wait_count)</a:t>
            </a:r>
            <a:endParaRPr lang="en-US" sz="1350" dirty="0"/>
          </a:p>
          <a:p>
            <a:pPr algn="l" marL="342900" indent="-342900">
              <a:spcAft>
                <a:spcPts val="800"/>
              </a:spcAft>
              <a:buSzPct val="100000"/>
              <a:buChar char="•"/>
            </a:pPr>
            <a:r>
              <a:rPr lang="en-US" sz="1350" dirty="0">
                <a:solidFill>
                  <a:srgbClr val="3D524C"/>
                </a:solidFill>
                <a:latin typeface="Calibri" pitchFamily="34" charset="0"/>
                <a:ea typeface="Calibri" pitchFamily="34" charset="-122"/>
                <a:cs typeface="Calibri" pitchFamily="34" charset="-120"/>
              </a:rPr>
              <a:t>Sees today's bookings</a:t>
            </a:r>
            <a:endParaRPr lang="en-US" sz="1350" dirty="0"/>
          </a:p>
          <a:p>
            <a:pPr algn="l" marL="342900" indent="-342900">
              <a:spcAft>
                <a:spcPts val="800"/>
              </a:spcAft>
              <a:buSzPct val="100000"/>
              <a:buChar char="•"/>
            </a:pPr>
            <a:r>
              <a:rPr lang="en-US" sz="1350" dirty="0">
                <a:solidFill>
                  <a:srgbClr val="3D524C"/>
                </a:solidFill>
                <a:latin typeface="Calibri" pitchFamily="34" charset="0"/>
                <a:ea typeface="Calibri" pitchFamily="34" charset="-122"/>
                <a:cs typeface="Calibri" pitchFamily="34" charset="-120"/>
              </a:rPr>
              <a:t>Marks arrived or no-show</a:t>
            </a:r>
            <a:endParaRPr lang="en-US" sz="1350" dirty="0"/>
          </a:p>
        </p:txBody>
      </p:sp>
      <p:sp>
        <p:nvSpPr>
          <p:cNvPr id="16" name="Text 14"/>
          <p:cNvSpPr/>
          <p:nvPr/>
        </p:nvSpPr>
        <p:spPr>
          <a:xfrm>
            <a:off x="7973568" y="3986784"/>
            <a:ext cx="3346704" cy="310896"/>
          </a:xfrm>
          <a:prstGeom prst="rect">
            <a:avLst/>
          </a:prstGeom>
          <a:noFill/>
          <a:ln/>
        </p:spPr>
        <p:txBody>
          <a:bodyPr wrap="square" lIns="0" tIns="0" rIns="0" bIns="0" rtlCol="0" anchor="t"/>
          <a:lstStyle/>
          <a:p>
            <a:pPr algn="l" indent="0" marL="0">
              <a:buNone/>
            </a:pPr>
            <a:r>
              <a:rPr lang="en-US" sz="1150" i="1" dirty="0">
                <a:solidFill>
                  <a:srgbClr val="0F5C4C"/>
                </a:solidFill>
                <a:latin typeface="Calibri" pitchFamily="34" charset="0"/>
                <a:ea typeface="Calibri" pitchFamily="34" charset="-122"/>
                <a:cs typeface="Calibri" pitchFamily="34" charset="-120"/>
              </a:rPr>
              <a:t>No chat — the booking row is the channel.</a:t>
            </a:r>
            <a:endParaRPr lang="en-US" sz="1150" dirty="0"/>
          </a:p>
        </p:txBody>
      </p:sp>
      <p:sp>
        <p:nvSpPr>
          <p:cNvPr id="17" name="Shape 15"/>
          <p:cNvSpPr/>
          <p:nvPr/>
        </p:nvSpPr>
        <p:spPr>
          <a:xfrm>
            <a:off x="548640" y="4663440"/>
            <a:ext cx="11064240" cy="1051560"/>
          </a:xfrm>
          <a:prstGeom prst="roundRect">
            <a:avLst>
              <a:gd name="adj" fmla="val 12174"/>
            </a:avLst>
          </a:prstGeom>
          <a:solidFill>
            <a:srgbClr val="14211E"/>
          </a:solidFill>
          <a:ln/>
          <a:effectLst>
            <a:outerShdw sx="100000" sy="100000" kx="0" ky="0" algn="bl" rotWithShape="0" blurRad="127000" dist="25400" dir="5400000">
              <a:srgbClr val="14211e">
                <a:alpha val="10000"/>
              </a:srgbClr>
            </a:outerShdw>
          </a:effectLst>
        </p:spPr>
      </p:sp>
      <p:sp>
        <p:nvSpPr>
          <p:cNvPr id="18" name="Text 16"/>
          <p:cNvSpPr/>
          <p:nvPr/>
        </p:nvSpPr>
        <p:spPr>
          <a:xfrm>
            <a:off x="914400" y="4892040"/>
            <a:ext cx="10332720" cy="640080"/>
          </a:xfrm>
          <a:prstGeom prst="rect">
            <a:avLst/>
          </a:prstGeom>
          <a:noFill/>
          <a:ln/>
        </p:spPr>
        <p:txBody>
          <a:bodyPr wrap="square" lIns="0" tIns="0" rIns="0" bIns="0" rtlCol="0" anchor="t"/>
          <a:lstStyle/>
          <a:p>
            <a:pPr algn="l" indent="0" marL="0">
              <a:lnSpc>
                <a:spcPct val="110000"/>
              </a:lnSpc>
              <a:buNone/>
            </a:pPr>
            <a:r>
              <a:rPr lang="en-US" sz="1550" b="1" dirty="0">
                <a:solidFill>
                  <a:srgbClr val="F4F7F6"/>
                </a:solidFill>
                <a:latin typeface="Calibri" pitchFamily="34" charset="0"/>
                <a:ea typeface="Calibri" pitchFamily="34" charset="-122"/>
                <a:cs typeface="Calibri" pitchFamily="34" charset="-120"/>
              </a:rPr>
              <a:t>If only the care-seeker side exists, the wait numbers are fiction. The desk update is the product, not a chore.</a:t>
            </a:r>
            <a:endParaRPr lang="en-US" sz="1550" dirty="0"/>
          </a:p>
        </p:txBody>
      </p:sp>
      <p:sp>
        <p:nvSpPr>
          <p:cNvPr id="19" name="Text 17"/>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PWA journey for /hospital — docs/product-map/02-two-sides.md, 04-queue-and-bookings.md. Diagram, not a product screenshot.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SAFETY</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Safety is the moat</a:t>
            </a:r>
            <a:endParaRPr lang="en-US" sz="3800" dirty="0"/>
          </a:p>
        </p:txBody>
      </p:sp>
      <p:sp>
        <p:nvSpPr>
          <p:cNvPr id="4" name="Shape 2"/>
          <p:cNvSpPr/>
          <p:nvPr/>
        </p:nvSpPr>
        <p:spPr>
          <a:xfrm>
            <a:off x="548640" y="1737360"/>
            <a:ext cx="5029200" cy="2148840"/>
          </a:xfrm>
          <a:prstGeom prst="roundRect">
            <a:avLst>
              <a:gd name="adj" fmla="val 5957"/>
            </a:avLst>
          </a:prstGeom>
          <a:solidFill>
            <a:srgbClr val="FDE8E8"/>
          </a:solidFill>
          <a:ln/>
          <a:effectLst>
            <a:outerShdw sx="100000" sy="100000" kx="0" ky="0" algn="bl" rotWithShape="0" blurRad="127000" dist="25400" dir="5400000">
              <a:srgbClr val="14211e">
                <a:alpha val="10000"/>
              </a:srgbClr>
            </a:outerShdw>
          </a:effectLst>
        </p:spPr>
      </p:sp>
      <p:sp>
        <p:nvSpPr>
          <p:cNvPr id="5" name="Text 3"/>
          <p:cNvSpPr/>
          <p:nvPr/>
        </p:nvSpPr>
        <p:spPr>
          <a:xfrm>
            <a:off x="841248" y="1956816"/>
            <a:ext cx="4443984" cy="274320"/>
          </a:xfrm>
          <a:prstGeom prst="rect">
            <a:avLst/>
          </a:prstGeom>
          <a:noFill/>
          <a:ln/>
        </p:spPr>
        <p:txBody>
          <a:bodyPr wrap="square" lIns="0" tIns="0" rIns="0" bIns="0" rtlCol="0" anchor="t"/>
          <a:lstStyle/>
          <a:p>
            <a:pPr algn="l" indent="0" marL="0">
              <a:buNone/>
            </a:pPr>
            <a:r>
              <a:rPr lang="en-US" sz="1150" b="1" spc="140" kern="0" dirty="0">
                <a:solidFill>
                  <a:srgbClr val="9B1C1C"/>
                </a:solidFill>
                <a:latin typeface="Calibri" pitchFamily="34" charset="0"/>
                <a:ea typeface="Calibri" pitchFamily="34" charset="-122"/>
                <a:cs typeface="Calibri" pitchFamily="34" charset="-120"/>
              </a:rPr>
              <a:t>RED-FLAG PATH</a:t>
            </a:r>
            <a:endParaRPr lang="en-US" sz="1150" dirty="0"/>
          </a:p>
        </p:txBody>
      </p:sp>
      <p:sp>
        <p:nvSpPr>
          <p:cNvPr id="6" name="Text 4"/>
          <p:cNvSpPr/>
          <p:nvPr/>
        </p:nvSpPr>
        <p:spPr>
          <a:xfrm>
            <a:off x="841248" y="2304288"/>
            <a:ext cx="4443984" cy="384048"/>
          </a:xfrm>
          <a:prstGeom prst="rect">
            <a:avLst/>
          </a:prstGeom>
          <a:noFill/>
          <a:ln/>
        </p:spPr>
        <p:txBody>
          <a:bodyPr wrap="square" lIns="0" tIns="0" rIns="0" bIns="0" rtlCol="0" anchor="t"/>
          <a:lstStyle/>
          <a:p>
            <a:pPr algn="l" indent="0" marL="0">
              <a:buNone/>
            </a:pPr>
            <a:r>
              <a:rPr lang="en-US" sz="2100" b="1" dirty="0">
                <a:solidFill>
                  <a:srgbClr val="14211E"/>
                </a:solidFill>
                <a:latin typeface="Cambria" pitchFamily="34" charset="0"/>
                <a:ea typeface="Cambria" pitchFamily="34" charset="-122"/>
                <a:cs typeface="Cambria" pitchFamily="34" charset="-120"/>
              </a:rPr>
              <a:t>Nearest KEPH 4+ — ignore wait.</a:t>
            </a:r>
            <a:endParaRPr lang="en-US" sz="2100" dirty="0"/>
          </a:p>
        </p:txBody>
      </p:sp>
      <p:sp>
        <p:nvSpPr>
          <p:cNvPr id="7" name="Text 5"/>
          <p:cNvSpPr/>
          <p:nvPr/>
        </p:nvSpPr>
        <p:spPr>
          <a:xfrm>
            <a:off x="841248" y="2798064"/>
            <a:ext cx="4443984" cy="914400"/>
          </a:xfrm>
          <a:prstGeom prst="rect">
            <a:avLst/>
          </a:prstGeom>
          <a:noFill/>
          <a:ln/>
        </p:spPr>
        <p:txBody>
          <a:bodyPr wrap="square" lIns="0" tIns="0" rIns="0" bIns="0" rtlCol="0" anchor="t"/>
          <a:lstStyle/>
          <a:p>
            <a:pPr algn="l" indent="0" marL="0">
              <a:lnSpc>
                <a:spcPct val="110000"/>
              </a:lnSpc>
              <a:buNone/>
            </a:pPr>
            <a:r>
              <a:rPr lang="en-US" sz="1300" dirty="0">
                <a:solidFill>
                  <a:srgbClr val="3D524C"/>
                </a:solidFill>
                <a:latin typeface="Calibri" pitchFamily="34" charset="0"/>
                <a:ea typeface="Calibri" pitchFamily="34" charset="-122"/>
                <a:cs typeface="Calibri" pitchFamily="34" charset="-120"/>
              </a:rPr>
              <a:t>A red flag stops ranking. We would rather over-route a family to a higher level than let a queue length hold back the one case that cannot wait.</a:t>
            </a:r>
            <a:endParaRPr lang="en-US" sz="1300" dirty="0"/>
          </a:p>
        </p:txBody>
      </p:sp>
      <p:sp>
        <p:nvSpPr>
          <p:cNvPr id="8" name="Shape 6"/>
          <p:cNvSpPr/>
          <p:nvPr/>
        </p:nvSpPr>
        <p:spPr>
          <a:xfrm>
            <a:off x="5943600" y="1737360"/>
            <a:ext cx="2697480" cy="2148840"/>
          </a:xfrm>
          <a:prstGeom prst="roundRect">
            <a:avLst>
              <a:gd name="adj" fmla="val 5957"/>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9" name="Text 7"/>
          <p:cNvSpPr/>
          <p:nvPr/>
        </p:nvSpPr>
        <p:spPr>
          <a:xfrm>
            <a:off x="6236208" y="1975104"/>
            <a:ext cx="2112264" cy="868680"/>
          </a:xfrm>
          <a:prstGeom prst="rect">
            <a:avLst/>
          </a:prstGeom>
          <a:noFill/>
          <a:ln/>
        </p:spPr>
        <p:txBody>
          <a:bodyPr wrap="square" lIns="0" tIns="0" rIns="0" bIns="0" rtlCol="0" anchor="t"/>
          <a:lstStyle/>
          <a:p>
            <a:pPr algn="l" indent="0" marL="0">
              <a:buNone/>
            </a:pPr>
            <a:r>
              <a:rPr lang="en-US" sz="5000" b="1" dirty="0">
                <a:solidFill>
                  <a:srgbClr val="3D524C"/>
                </a:solidFill>
                <a:latin typeface="Cambria" pitchFamily="34" charset="0"/>
                <a:ea typeface="Cambria" pitchFamily="34" charset="-122"/>
                <a:cs typeface="Cambria" pitchFamily="34" charset="-120"/>
              </a:rPr>
              <a:t>51%</a:t>
            </a:r>
            <a:endParaRPr lang="en-US" sz="5000" dirty="0"/>
          </a:p>
        </p:txBody>
      </p:sp>
      <p:sp>
        <p:nvSpPr>
          <p:cNvPr id="10" name="Text 8"/>
          <p:cNvSpPr/>
          <p:nvPr/>
        </p:nvSpPr>
        <p:spPr>
          <a:xfrm>
            <a:off x="6236208" y="2834640"/>
            <a:ext cx="2112264" cy="548640"/>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ETAT mortality sensitivity</a:t>
            </a:r>
            <a:endParaRPr lang="en-US" sz="1350" dirty="0"/>
          </a:p>
        </p:txBody>
      </p:sp>
      <p:sp>
        <p:nvSpPr>
          <p:cNvPr id="11" name="Text 9"/>
          <p:cNvSpPr/>
          <p:nvPr/>
        </p:nvSpPr>
        <p:spPr>
          <a:xfrm>
            <a:off x="6236208" y="3438144"/>
            <a:ext cx="2112264" cy="265176"/>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In-facility guideline</a:t>
            </a:r>
            <a:endParaRPr lang="en-US" sz="1250" dirty="0"/>
          </a:p>
        </p:txBody>
      </p:sp>
      <p:sp>
        <p:nvSpPr>
          <p:cNvPr id="12" name="Shape 10"/>
          <p:cNvSpPr/>
          <p:nvPr/>
        </p:nvSpPr>
        <p:spPr>
          <a:xfrm>
            <a:off x="8915400" y="1737360"/>
            <a:ext cx="2697480" cy="2148840"/>
          </a:xfrm>
          <a:prstGeom prst="roundRect">
            <a:avLst>
              <a:gd name="adj" fmla="val 5957"/>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3" name="Text 11"/>
          <p:cNvSpPr/>
          <p:nvPr/>
        </p:nvSpPr>
        <p:spPr>
          <a:xfrm>
            <a:off x="9208008" y="1975104"/>
            <a:ext cx="2112264" cy="868680"/>
          </a:xfrm>
          <a:prstGeom prst="rect">
            <a:avLst/>
          </a:prstGeom>
          <a:noFill/>
          <a:ln/>
        </p:spPr>
        <p:txBody>
          <a:bodyPr wrap="square" lIns="0" tIns="0" rIns="0" bIns="0" rtlCol="0" anchor="t"/>
          <a:lstStyle/>
          <a:p>
            <a:pPr algn="l" indent="0" marL="0">
              <a:buNone/>
            </a:pPr>
            <a:r>
              <a:rPr lang="en-US" sz="5000" b="1" dirty="0">
                <a:solidFill>
                  <a:srgbClr val="0F5C4C"/>
                </a:solidFill>
                <a:latin typeface="Cambria" pitchFamily="34" charset="0"/>
                <a:ea typeface="Cambria" pitchFamily="34" charset="-122"/>
                <a:cs typeface="Cambria" pitchFamily="34" charset="-120"/>
              </a:rPr>
              <a:t>79.6%</a:t>
            </a:r>
            <a:endParaRPr lang="en-US" sz="5000" dirty="0"/>
          </a:p>
        </p:txBody>
      </p:sp>
      <p:sp>
        <p:nvSpPr>
          <p:cNvPr id="14" name="Text 12"/>
          <p:cNvSpPr/>
          <p:nvPr/>
        </p:nvSpPr>
        <p:spPr>
          <a:xfrm>
            <a:off x="9208008" y="2834640"/>
            <a:ext cx="2112264" cy="548640"/>
          </a:xfrm>
          <a:prstGeom prst="rect">
            <a:avLst/>
          </a:prstGeom>
          <a:noFill/>
          <a:ln/>
        </p:spPr>
        <p:txBody>
          <a:bodyPr wrap="square" lIns="0" tIns="0" rIns="0" bIns="0" rtlCol="0" anchor="t"/>
          <a:lstStyle/>
          <a:p>
            <a:pPr algn="l" indent="0" marL="0">
              <a:buNone/>
            </a:pPr>
            <a:r>
              <a:rPr lang="en-US" sz="1350" b="1" dirty="0">
                <a:solidFill>
                  <a:srgbClr val="14211E"/>
                </a:solidFill>
                <a:latin typeface="Calibri" pitchFamily="34" charset="0"/>
                <a:ea typeface="Calibri" pitchFamily="34" charset="-122"/>
                <a:cs typeface="Calibri" pitchFamily="34" charset="-120"/>
              </a:rPr>
              <a:t>Smart Triage mortality sensitivity</a:t>
            </a:r>
            <a:endParaRPr lang="en-US" sz="1350" dirty="0"/>
          </a:p>
        </p:txBody>
      </p:sp>
      <p:sp>
        <p:nvSpPr>
          <p:cNvPr id="15" name="Text 13"/>
          <p:cNvSpPr/>
          <p:nvPr/>
        </p:nvSpPr>
        <p:spPr>
          <a:xfrm>
            <a:off x="9208008" y="3438144"/>
            <a:ext cx="2112264" cy="265176"/>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Data-driven model</a:t>
            </a:r>
            <a:endParaRPr lang="en-US" sz="1250" dirty="0"/>
          </a:p>
        </p:txBody>
      </p:sp>
      <p:sp>
        <p:nvSpPr>
          <p:cNvPr id="16" name="Shape 14"/>
          <p:cNvSpPr/>
          <p:nvPr/>
        </p:nvSpPr>
        <p:spPr>
          <a:xfrm>
            <a:off x="548640" y="4114800"/>
            <a:ext cx="5029200" cy="1600200"/>
          </a:xfrm>
          <a:prstGeom prst="roundRect">
            <a:avLst>
              <a:gd name="adj" fmla="val 8000"/>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7" name="Text 15"/>
          <p:cNvSpPr/>
          <p:nvPr/>
        </p:nvSpPr>
        <p:spPr>
          <a:xfrm>
            <a:off x="841248" y="4334256"/>
            <a:ext cx="4443984" cy="329184"/>
          </a:xfrm>
          <a:prstGeom prst="rect">
            <a:avLst/>
          </a:prstGeom>
          <a:noFill/>
          <a:ln/>
        </p:spPr>
        <p:txBody>
          <a:bodyPr wrap="square" lIns="0" tIns="0" rIns="0" bIns="0" rtlCol="0" anchor="t"/>
          <a:lstStyle/>
          <a:p>
            <a:pPr algn="l" indent="0" marL="0">
              <a:buNone/>
            </a:pPr>
            <a:r>
              <a:rPr lang="en-US" sz="1600" b="1" dirty="0">
                <a:solidFill>
                  <a:srgbClr val="14211E"/>
                </a:solidFill>
                <a:latin typeface="Calibri" pitchFamily="34" charset="0"/>
                <a:ea typeface="Calibri" pitchFamily="34" charset="-122"/>
                <a:cs typeface="Calibri" pitchFamily="34" charset="-120"/>
              </a:rPr>
              <a:t>Conservative rules, not a device</a:t>
            </a:r>
            <a:endParaRPr lang="en-US" sz="1600" dirty="0"/>
          </a:p>
        </p:txBody>
      </p:sp>
      <p:sp>
        <p:nvSpPr>
          <p:cNvPr id="18" name="Text 16"/>
          <p:cNvSpPr/>
          <p:nvPr/>
        </p:nvSpPr>
        <p:spPr>
          <a:xfrm>
            <a:off x="841248" y="4718304"/>
            <a:ext cx="4443984" cy="868680"/>
          </a:xfrm>
          <a:prstGeom prst="rect">
            <a:avLst/>
          </a:prstGeom>
          <a:noFill/>
          <a:ln/>
        </p:spPr>
        <p:txBody>
          <a:bodyPr wrap="square" lIns="0" tIns="0" rIns="0" bIns="0" rtlCol="0" anchor="t"/>
          <a:lstStyle/>
          <a:p>
            <a:pPr algn="l" indent="0" marL="0">
              <a:lnSpc>
                <a:spcPct val="110000"/>
              </a:lnSpc>
              <a:buNone/>
            </a:pPr>
            <a:r>
              <a:rPr lang="en-US" sz="1300" dirty="0">
                <a:solidFill>
                  <a:srgbClr val="3D524C"/>
                </a:solidFill>
                <a:latin typeface="Calibri" pitchFamily="34" charset="0"/>
                <a:ea typeface="Calibri" pitchFamily="34" charset="-122"/>
                <a:cs typeface="Calibri" pitchFamily="34" charset="-120"/>
              </a:rPr>
              <a:t>CareFlow is deliberately simpler than ETAT or Smart Triage. It refuses diagnosis, and it will not use a wait number to justify a lower level of care.</a:t>
            </a:r>
            <a:endParaRPr lang="en-US" sz="1300" dirty="0"/>
          </a:p>
        </p:txBody>
      </p:sp>
      <p:sp>
        <p:nvSpPr>
          <p:cNvPr id="19" name="Shape 17"/>
          <p:cNvSpPr/>
          <p:nvPr/>
        </p:nvSpPr>
        <p:spPr>
          <a:xfrm>
            <a:off x="5943600" y="4114800"/>
            <a:ext cx="5669280" cy="1600200"/>
          </a:xfrm>
          <a:prstGeom prst="roundRect">
            <a:avLst>
              <a:gd name="adj" fmla="val 8000"/>
            </a:avLst>
          </a:prstGeom>
          <a:solidFill>
            <a:srgbClr val="0F5C4C"/>
          </a:solidFill>
          <a:ln/>
          <a:effectLst>
            <a:outerShdw sx="100000" sy="100000" kx="0" ky="0" algn="bl" rotWithShape="0" blurRad="127000" dist="25400" dir="5400000">
              <a:srgbClr val="14211e">
                <a:alpha val="10000"/>
              </a:srgbClr>
            </a:outerShdw>
          </a:effectLst>
        </p:spPr>
      </p:sp>
      <p:sp>
        <p:nvSpPr>
          <p:cNvPr id="20" name="Text 18"/>
          <p:cNvSpPr/>
          <p:nvPr/>
        </p:nvSpPr>
        <p:spPr>
          <a:xfrm>
            <a:off x="6236208" y="4334256"/>
            <a:ext cx="5084064" cy="329184"/>
          </a:xfrm>
          <a:prstGeom prst="rect">
            <a:avLst/>
          </a:prstGeom>
          <a:noFill/>
          <a:ln/>
        </p:spPr>
        <p:txBody>
          <a:bodyPr wrap="square" lIns="0" tIns="0" rIns="0" bIns="0" rtlCol="0" anchor="t"/>
          <a:lstStyle/>
          <a:p>
            <a:pPr algn="l" indent="0" marL="0">
              <a:buNone/>
            </a:pPr>
            <a:r>
              <a:rPr lang="en-US" sz="1600" b="1" dirty="0">
                <a:solidFill>
                  <a:srgbClr val="F4F7F6"/>
                </a:solidFill>
                <a:latin typeface="Calibri" pitchFamily="34" charset="0"/>
                <a:ea typeface="Calibri" pitchFamily="34" charset="-122"/>
                <a:cs typeface="Calibri" pitchFamily="34" charset="-120"/>
              </a:rPr>
              <a:t>We do not claim to beat Smart Triage</a:t>
            </a:r>
            <a:endParaRPr lang="en-US" sz="1600" dirty="0"/>
          </a:p>
        </p:txBody>
      </p:sp>
      <p:sp>
        <p:nvSpPr>
          <p:cNvPr id="21" name="Text 19"/>
          <p:cNvSpPr/>
          <p:nvPr/>
        </p:nvSpPr>
        <p:spPr>
          <a:xfrm>
            <a:off x="6236208" y="4718304"/>
            <a:ext cx="5084064" cy="868680"/>
          </a:xfrm>
          <a:prstGeom prst="rect">
            <a:avLst/>
          </a:prstGeom>
          <a:noFill/>
          <a:ln/>
        </p:spPr>
        <p:txBody>
          <a:bodyPr wrap="square" lIns="0" tIns="0" rIns="0" bIns="0" rtlCol="0" anchor="t"/>
          <a:lstStyle/>
          <a:p>
            <a:pPr algn="l" indent="0" marL="0">
              <a:lnSpc>
                <a:spcPct val="110000"/>
              </a:lnSpc>
              <a:buNone/>
            </a:pPr>
            <a:r>
              <a:rPr lang="en-US" sz="1300" dirty="0">
                <a:solidFill>
                  <a:srgbClr val="C5D4CF"/>
                </a:solidFill>
                <a:latin typeface="Calibri" pitchFamily="34" charset="0"/>
                <a:ea typeface="Calibri" pitchFamily="34" charset="-122"/>
                <a:cs typeface="Calibri" pitchFamily="34" charset="-120"/>
              </a:rPr>
              <a:t>Undertriage is documented in Kenyan public hospitals. That is exactly why the red-flag rule ignores wait and pushes upward: the failure mode we design against is a missed emergency, not an inefficient queue.</a:t>
            </a:r>
            <a:endParaRPr lang="en-US" sz="1300" dirty="0"/>
          </a:p>
        </p:txBody>
      </p:sp>
      <p:sp>
        <p:nvSpPr>
          <p:cNvPr id="22" name="Text 20"/>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PLOS Digital Health 2024 — two Kenyan public hospitals, n=5,618 children under 15.</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457200"/>
            <a:ext cx="11064240" cy="256032"/>
          </a:xfrm>
          <a:prstGeom prst="rect">
            <a:avLst/>
          </a:prstGeom>
          <a:noFill/>
          <a:ln/>
        </p:spPr>
        <p:txBody>
          <a:bodyPr wrap="square" lIns="0" tIns="0" rIns="0" bIns="0" rtlCol="0" anchor="t"/>
          <a:lstStyle/>
          <a:p>
            <a:pPr algn="l" indent="0" marL="0">
              <a:buNone/>
            </a:pPr>
            <a:r>
              <a:rPr lang="en-US" sz="1150" b="1" spc="160" kern="0" dirty="0">
                <a:solidFill>
                  <a:srgbClr val="0F5C4C"/>
                </a:solidFill>
                <a:latin typeface="Calibri" pitchFamily="34" charset="0"/>
                <a:ea typeface="Calibri" pitchFamily="34" charset="-122"/>
                <a:cs typeface="Calibri" pitchFamily="34" charset="-120"/>
              </a:rPr>
              <a:t>WHY NOW / WHO PAYS</a:t>
            </a:r>
            <a:endParaRPr lang="en-US" sz="1150" dirty="0"/>
          </a:p>
        </p:txBody>
      </p:sp>
      <p:sp>
        <p:nvSpPr>
          <p:cNvPr id="3" name="Text 1"/>
          <p:cNvSpPr/>
          <p:nvPr/>
        </p:nvSpPr>
        <p:spPr>
          <a:xfrm>
            <a:off x="548640" y="768096"/>
            <a:ext cx="11064240" cy="822960"/>
          </a:xfrm>
          <a:prstGeom prst="rect">
            <a:avLst/>
          </a:prstGeom>
          <a:noFill/>
          <a:ln/>
        </p:spPr>
        <p:txBody>
          <a:bodyPr wrap="square" lIns="0" tIns="0" rIns="0" bIns="0" rtlCol="0" anchor="t"/>
          <a:lstStyle/>
          <a:p>
            <a:pPr algn="l" indent="0" marL="0">
              <a:buNone/>
            </a:pPr>
            <a:r>
              <a:rPr lang="en-US" sz="3800" b="1" dirty="0">
                <a:solidFill>
                  <a:srgbClr val="14211E"/>
                </a:solidFill>
                <a:latin typeface="Cambria" pitchFamily="34" charset="0"/>
                <a:ea typeface="Cambria" pitchFamily="34" charset="-122"/>
                <a:cs typeface="Cambria" pitchFamily="34" charset="-120"/>
              </a:rPr>
              <a:t>Why now, and who pays</a:t>
            </a:r>
            <a:endParaRPr lang="en-US" sz="3800" dirty="0"/>
          </a:p>
        </p:txBody>
      </p:sp>
      <p:sp>
        <p:nvSpPr>
          <p:cNvPr id="4" name="Shape 2"/>
          <p:cNvSpPr/>
          <p:nvPr/>
        </p:nvSpPr>
        <p:spPr>
          <a:xfrm>
            <a:off x="548640" y="1737360"/>
            <a:ext cx="3447288" cy="2011680"/>
          </a:xfrm>
          <a:prstGeom prst="roundRect">
            <a:avLst>
              <a:gd name="adj" fmla="val 636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5" name="Text 3"/>
          <p:cNvSpPr/>
          <p:nvPr/>
        </p:nvSpPr>
        <p:spPr>
          <a:xfrm>
            <a:off x="841248" y="1975104"/>
            <a:ext cx="2862072" cy="868680"/>
          </a:xfrm>
          <a:prstGeom prst="rect">
            <a:avLst/>
          </a:prstGeom>
          <a:noFill/>
          <a:ln/>
        </p:spPr>
        <p:txBody>
          <a:bodyPr wrap="square" lIns="0" tIns="0" rIns="0" bIns="0" rtlCol="0" anchor="t"/>
          <a:lstStyle/>
          <a:p>
            <a:pPr algn="l" indent="0" marL="0">
              <a:buNone/>
            </a:pPr>
            <a:r>
              <a:rPr lang="en-US" sz="4000" b="1" dirty="0">
                <a:solidFill>
                  <a:srgbClr val="0F5C4C"/>
                </a:solidFill>
                <a:latin typeface="Cambria" pitchFamily="34" charset="0"/>
                <a:ea typeface="Cambria" pitchFamily="34" charset="-122"/>
                <a:cs typeface="Cambria" pitchFamily="34" charset="-120"/>
              </a:rPr>
              <a:t>Monday</a:t>
            </a:r>
            <a:endParaRPr lang="en-US" sz="4000" dirty="0"/>
          </a:p>
        </p:txBody>
      </p:sp>
      <p:sp>
        <p:nvSpPr>
          <p:cNvPr id="6" name="Text 4"/>
          <p:cNvSpPr/>
          <p:nvPr/>
        </p:nvSpPr>
        <p:spPr>
          <a:xfrm>
            <a:off x="841248" y="2670048"/>
            <a:ext cx="2862072" cy="548640"/>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08:00–12:00 peak</a:t>
            </a:r>
            <a:endParaRPr lang="en-US" sz="1500" dirty="0"/>
          </a:p>
        </p:txBody>
      </p:sp>
      <p:sp>
        <p:nvSpPr>
          <p:cNvPr id="7" name="Text 5"/>
          <p:cNvSpPr/>
          <p:nvPr/>
        </p:nvSpPr>
        <p:spPr>
          <a:xfrm>
            <a:off x="841248" y="3072384"/>
            <a:ext cx="2862072" cy="493776"/>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Demand is predictable, so it can be shifted.</a:t>
            </a:r>
            <a:endParaRPr lang="en-US" sz="1250" dirty="0"/>
          </a:p>
        </p:txBody>
      </p:sp>
      <p:sp>
        <p:nvSpPr>
          <p:cNvPr id="8" name="Shape 6"/>
          <p:cNvSpPr/>
          <p:nvPr/>
        </p:nvSpPr>
        <p:spPr>
          <a:xfrm>
            <a:off x="4361688" y="1737360"/>
            <a:ext cx="3447288" cy="2011680"/>
          </a:xfrm>
          <a:prstGeom prst="roundRect">
            <a:avLst>
              <a:gd name="adj" fmla="val 636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9" name="Text 7"/>
          <p:cNvSpPr/>
          <p:nvPr/>
        </p:nvSpPr>
        <p:spPr>
          <a:xfrm>
            <a:off x="4654296" y="1975104"/>
            <a:ext cx="2862072" cy="868680"/>
          </a:xfrm>
          <a:prstGeom prst="rect">
            <a:avLst/>
          </a:prstGeom>
          <a:noFill/>
          <a:ln/>
        </p:spPr>
        <p:txBody>
          <a:bodyPr wrap="square" lIns="0" tIns="0" rIns="0" bIns="0" rtlCol="0" anchor="t"/>
          <a:lstStyle/>
          <a:p>
            <a:pPr algn="l" indent="0" marL="0">
              <a:buNone/>
            </a:pPr>
            <a:r>
              <a:rPr lang="en-US" sz="4000" b="1" dirty="0">
                <a:solidFill>
                  <a:srgbClr val="0F5C4C"/>
                </a:solidFill>
                <a:latin typeface="Cambria" pitchFamily="34" charset="0"/>
                <a:ea typeface="Cambria" pitchFamily="34" charset="-122"/>
                <a:cs typeface="Cambria" pitchFamily="34" charset="-120"/>
              </a:rPr>
              <a:t>OR 2.03</a:t>
            </a:r>
            <a:endParaRPr lang="en-US" sz="4000" dirty="0"/>
          </a:p>
        </p:txBody>
      </p:sp>
      <p:sp>
        <p:nvSpPr>
          <p:cNvPr id="10" name="Text 8"/>
          <p:cNvSpPr/>
          <p:nvPr/>
        </p:nvSpPr>
        <p:spPr>
          <a:xfrm>
            <a:off x="4654296" y="2670048"/>
            <a:ext cx="2862072" cy="548640"/>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one-way SMS and attendance</a:t>
            </a:r>
            <a:endParaRPr lang="en-US" sz="1500" dirty="0"/>
          </a:p>
        </p:txBody>
      </p:sp>
      <p:sp>
        <p:nvSpPr>
          <p:cNvPr id="11" name="Text 9"/>
          <p:cNvSpPr/>
          <p:nvPr/>
        </p:nvSpPr>
        <p:spPr>
          <a:xfrm>
            <a:off x="4654296" y="3072384"/>
            <a:ext cx="2862072" cy="493776"/>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Meta-analysis across African settings.</a:t>
            </a:r>
            <a:endParaRPr lang="en-US" sz="1250" dirty="0"/>
          </a:p>
        </p:txBody>
      </p:sp>
      <p:sp>
        <p:nvSpPr>
          <p:cNvPr id="12" name="Shape 10"/>
          <p:cNvSpPr/>
          <p:nvPr/>
        </p:nvSpPr>
        <p:spPr>
          <a:xfrm>
            <a:off x="8174736" y="1737360"/>
            <a:ext cx="3447288" cy="2011680"/>
          </a:xfrm>
          <a:prstGeom prst="roundRect">
            <a:avLst>
              <a:gd name="adj" fmla="val 6364"/>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3" name="Text 11"/>
          <p:cNvSpPr/>
          <p:nvPr/>
        </p:nvSpPr>
        <p:spPr>
          <a:xfrm>
            <a:off x="8467344" y="1975104"/>
            <a:ext cx="2862072" cy="868680"/>
          </a:xfrm>
          <a:prstGeom prst="rect">
            <a:avLst/>
          </a:prstGeom>
          <a:noFill/>
          <a:ln/>
        </p:spPr>
        <p:txBody>
          <a:bodyPr wrap="square" lIns="0" tIns="0" rIns="0" bIns="0" rtlCol="0" anchor="t"/>
          <a:lstStyle/>
          <a:p>
            <a:pPr algn="l" indent="0" marL="0">
              <a:buNone/>
            </a:pPr>
            <a:r>
              <a:rPr lang="en-US" sz="4000" b="1" dirty="0">
                <a:solidFill>
                  <a:srgbClr val="0F5C4C"/>
                </a:solidFill>
                <a:latin typeface="Cambria" pitchFamily="34" charset="0"/>
                <a:ea typeface="Cambria" pitchFamily="34" charset="-122"/>
                <a:cs typeface="Cambria" pitchFamily="34" charset="-120"/>
              </a:rPr>
              <a:t>35–42%</a:t>
            </a:r>
            <a:endParaRPr lang="en-US" sz="4000" dirty="0"/>
          </a:p>
        </p:txBody>
      </p:sp>
      <p:sp>
        <p:nvSpPr>
          <p:cNvPr id="14" name="Text 12"/>
          <p:cNvSpPr/>
          <p:nvPr/>
        </p:nvSpPr>
        <p:spPr>
          <a:xfrm>
            <a:off x="8467344" y="2670048"/>
            <a:ext cx="2862072" cy="548640"/>
          </a:xfrm>
          <a:prstGeom prst="rect">
            <a:avLst/>
          </a:prstGeom>
          <a:noFill/>
          <a:ln/>
        </p:spPr>
        <p:txBody>
          <a:bodyPr wrap="square" lIns="0" tIns="0" rIns="0" bIns="0" rtlCol="0" anchor="t"/>
          <a:lstStyle/>
          <a:p>
            <a:pPr algn="l" indent="0" marL="0">
              <a:buNone/>
            </a:pPr>
            <a:r>
              <a:rPr lang="en-US" sz="1500" b="1" dirty="0">
                <a:solidFill>
                  <a:srgbClr val="14211E"/>
                </a:solidFill>
                <a:latin typeface="Calibri" pitchFamily="34" charset="0"/>
                <a:ea typeface="Calibri" pitchFamily="34" charset="-122"/>
                <a:cs typeface="Calibri" pitchFamily="34" charset="-120"/>
              </a:rPr>
              <a:t>Kenya ANC appointments missed</a:t>
            </a:r>
            <a:endParaRPr lang="en-US" sz="1500" dirty="0"/>
          </a:p>
        </p:txBody>
      </p:sp>
      <p:sp>
        <p:nvSpPr>
          <p:cNvPr id="15" name="Text 13"/>
          <p:cNvSpPr/>
          <p:nvPr/>
        </p:nvSpPr>
        <p:spPr>
          <a:xfrm>
            <a:off x="8467344" y="3072384"/>
            <a:ext cx="2862072" cy="493776"/>
          </a:xfrm>
          <a:prstGeom prst="rect">
            <a:avLst/>
          </a:prstGeom>
          <a:noFill/>
          <a:ln/>
        </p:spPr>
        <p:txBody>
          <a:bodyPr wrap="square" lIns="0" tIns="0" rIns="0" bIns="0" rtlCol="0" anchor="t"/>
          <a:lstStyle/>
          <a:p>
            <a:pPr algn="l" indent="0" marL="0">
              <a:lnSpc>
                <a:spcPct val="108000"/>
              </a:lnSpc>
              <a:buNone/>
            </a:pPr>
            <a:r>
              <a:rPr lang="en-US" sz="1250" dirty="0">
                <a:solidFill>
                  <a:srgbClr val="3D524C"/>
                </a:solidFill>
                <a:latin typeface="Calibri" pitchFamily="34" charset="0"/>
                <a:ea typeface="Calibri" pitchFamily="34" charset="-122"/>
                <a:cs typeface="Calibri" pitchFamily="34" charset="-120"/>
              </a:rPr>
              <a:t>The no-show baseline a reminder loop attacks.</a:t>
            </a:r>
            <a:endParaRPr lang="en-US" sz="1250" dirty="0"/>
          </a:p>
        </p:txBody>
      </p:sp>
      <p:sp>
        <p:nvSpPr>
          <p:cNvPr id="16" name="Shape 14"/>
          <p:cNvSpPr/>
          <p:nvPr/>
        </p:nvSpPr>
        <p:spPr>
          <a:xfrm>
            <a:off x="548640" y="4023360"/>
            <a:ext cx="6675120" cy="1737360"/>
          </a:xfrm>
          <a:prstGeom prst="roundRect">
            <a:avLst>
              <a:gd name="adj" fmla="val 7368"/>
            </a:avLst>
          </a:prstGeom>
          <a:solidFill>
            <a:srgbClr val="FFFFFF"/>
          </a:solidFill>
          <a:ln w="9525">
            <a:solidFill>
              <a:srgbClr val="C5D4CF"/>
            </a:solidFill>
            <a:prstDash val="solid"/>
          </a:ln>
          <a:effectLst>
            <a:outerShdw sx="100000" sy="100000" kx="0" ky="0" algn="bl" rotWithShape="0" blurRad="127000" dist="25400" dir="5400000">
              <a:srgbClr val="14211e">
                <a:alpha val="10000"/>
              </a:srgbClr>
            </a:outerShdw>
          </a:effectLst>
        </p:spPr>
      </p:sp>
      <p:sp>
        <p:nvSpPr>
          <p:cNvPr id="17" name="Text 15"/>
          <p:cNvSpPr/>
          <p:nvPr/>
        </p:nvSpPr>
        <p:spPr>
          <a:xfrm>
            <a:off x="841248" y="4224528"/>
            <a:ext cx="6089904" cy="274320"/>
          </a:xfrm>
          <a:prstGeom prst="rect">
            <a:avLst/>
          </a:prstGeom>
          <a:noFill/>
          <a:ln/>
        </p:spPr>
        <p:txBody>
          <a:bodyPr wrap="square" lIns="0" tIns="0" rIns="0" bIns="0" rtlCol="0" anchor="t"/>
          <a:lstStyle/>
          <a:p>
            <a:pPr algn="l" indent="0" marL="0">
              <a:buNone/>
            </a:pPr>
            <a:r>
              <a:rPr lang="en-US" sz="1150" b="1" spc="140" kern="0" dirty="0">
                <a:solidFill>
                  <a:srgbClr val="0F5C4C"/>
                </a:solidFill>
                <a:latin typeface="Calibri" pitchFamily="34" charset="0"/>
                <a:ea typeface="Calibri" pitchFamily="34" charset="-122"/>
                <a:cs typeface="Calibri" pitchFamily="34" charset="-120"/>
              </a:rPr>
              <a:t>BUYER HYPOTHESIS — NOT A MODEL</a:t>
            </a:r>
            <a:endParaRPr lang="en-US" sz="1150" dirty="0"/>
          </a:p>
        </p:txBody>
      </p:sp>
      <p:sp>
        <p:nvSpPr>
          <p:cNvPr id="18" name="Text 16"/>
          <p:cNvSpPr/>
          <p:nvPr/>
        </p:nvSpPr>
        <p:spPr>
          <a:xfrm>
            <a:off x="841248" y="4572000"/>
            <a:ext cx="6089904" cy="1051560"/>
          </a:xfrm>
          <a:prstGeom prst="rect">
            <a:avLst/>
          </a:prstGeom>
          <a:noFill/>
          <a:ln/>
        </p:spPr>
        <p:txBody>
          <a:bodyPr wrap="square" lIns="0" tIns="0" rIns="0" bIns="0" rtlCol="0" anchor="t"/>
          <a:lstStyle/>
          <a:p>
            <a:pPr algn="l" indent="0" marL="0">
              <a:lnSpc>
                <a:spcPct val="112000"/>
              </a:lnSpc>
              <a:buNone/>
            </a:pPr>
            <a:r>
              <a:rPr lang="en-US" sz="1400" dirty="0">
                <a:solidFill>
                  <a:srgbClr val="14211E"/>
                </a:solidFill>
                <a:latin typeface="Calibri" pitchFamily="34" charset="0"/>
                <a:ea typeface="Calibri" pitchFamily="34" charset="-122"/>
                <a:cs typeface="Calibri" pitchFamily="34" charset="-120"/>
              </a:rPr>
              <a:t>Counties and facilities are the buyers we test first, because load-shifting is their problem: the right KEPH level, a shorter wait, and an SMS that actually gets the family there. How that is priced is a hypothesis for pilots to answer, not a model we are presenting.</a:t>
            </a:r>
            <a:endParaRPr lang="en-US" sz="1400" dirty="0"/>
          </a:p>
        </p:txBody>
      </p:sp>
      <p:sp>
        <p:nvSpPr>
          <p:cNvPr id="19" name="Shape 17"/>
          <p:cNvSpPr/>
          <p:nvPr/>
        </p:nvSpPr>
        <p:spPr>
          <a:xfrm>
            <a:off x="7680960" y="4023360"/>
            <a:ext cx="3931920" cy="1737360"/>
          </a:xfrm>
          <a:prstGeom prst="roundRect">
            <a:avLst>
              <a:gd name="adj" fmla="val 7368"/>
            </a:avLst>
          </a:prstGeom>
          <a:solidFill>
            <a:srgbClr val="14211E"/>
          </a:solidFill>
          <a:ln/>
          <a:effectLst>
            <a:outerShdw sx="100000" sy="100000" kx="0" ky="0" algn="bl" rotWithShape="0" blurRad="127000" dist="25400" dir="5400000">
              <a:srgbClr val="14211e">
                <a:alpha val="10000"/>
              </a:srgbClr>
            </a:outerShdw>
          </a:effectLst>
        </p:spPr>
      </p:sp>
      <p:sp>
        <p:nvSpPr>
          <p:cNvPr id="20" name="Text 18"/>
          <p:cNvSpPr/>
          <p:nvPr/>
        </p:nvSpPr>
        <p:spPr>
          <a:xfrm>
            <a:off x="7973568" y="4224528"/>
            <a:ext cx="3346704" cy="329184"/>
          </a:xfrm>
          <a:prstGeom prst="rect">
            <a:avLst/>
          </a:prstGeom>
          <a:noFill/>
          <a:ln/>
        </p:spPr>
        <p:txBody>
          <a:bodyPr wrap="square" lIns="0" tIns="0" rIns="0" bIns="0" rtlCol="0" anchor="t"/>
          <a:lstStyle/>
          <a:p>
            <a:pPr algn="l" indent="0" marL="0">
              <a:buNone/>
            </a:pPr>
            <a:r>
              <a:rPr lang="en-US" sz="1600" b="1" dirty="0">
                <a:solidFill>
                  <a:srgbClr val="F4F7F6"/>
                </a:solidFill>
                <a:latin typeface="Calibri" pitchFamily="34" charset="0"/>
                <a:ea typeface="Calibri" pitchFamily="34" charset="-122"/>
                <a:cs typeface="Calibri" pitchFamily="34" charset="-120"/>
              </a:rPr>
              <a:t>Out of scope this pass</a:t>
            </a:r>
            <a:endParaRPr lang="en-US" sz="1600" dirty="0"/>
          </a:p>
        </p:txBody>
      </p:sp>
      <p:sp>
        <p:nvSpPr>
          <p:cNvPr id="21" name="Text 19"/>
          <p:cNvSpPr/>
          <p:nvPr/>
        </p:nvSpPr>
        <p:spPr>
          <a:xfrm>
            <a:off x="7973568" y="4608576"/>
            <a:ext cx="3346704" cy="1005840"/>
          </a:xfrm>
          <a:prstGeom prst="rect">
            <a:avLst/>
          </a:prstGeom>
          <a:noFill/>
          <a:ln/>
        </p:spPr>
        <p:txBody>
          <a:bodyPr wrap="square" lIns="0" tIns="0" rIns="0" bIns="0" rtlCol="0" anchor="t"/>
          <a:lstStyle/>
          <a:p>
            <a:pPr algn="l" indent="0" marL="0">
              <a:lnSpc>
                <a:spcPct val="108000"/>
              </a:lnSpc>
              <a:buNone/>
            </a:pPr>
            <a:r>
              <a:rPr lang="en-US" sz="1250" dirty="0">
                <a:solidFill>
                  <a:srgbClr val="C5D4CF"/>
                </a:solidFill>
                <a:latin typeface="Calibri" pitchFamily="34" charset="0"/>
                <a:ea typeface="Calibri" pitchFamily="34" charset="-122"/>
                <a:cs typeface="Calibri" pitchFamily="34" charset="-120"/>
              </a:rPr>
              <a:t>National insurance rails, claims and reimbursement integration. Deferred on purpose — the wedge is shifting load before the door, not moving money after it.</a:t>
            </a:r>
            <a:endParaRPr lang="en-US" sz="1250" dirty="0"/>
          </a:p>
        </p:txBody>
      </p:sp>
      <p:sp>
        <p:nvSpPr>
          <p:cNvPr id="22" name="Text 20"/>
          <p:cNvSpPr/>
          <p:nvPr/>
        </p:nvSpPr>
        <p:spPr>
          <a:xfrm>
            <a:off x="548640" y="6053328"/>
            <a:ext cx="11064240" cy="301752"/>
          </a:xfrm>
          <a:prstGeom prst="rect">
            <a:avLst/>
          </a:prstGeom>
          <a:noFill/>
          <a:ln/>
        </p:spPr>
        <p:txBody>
          <a:bodyPr wrap="square" lIns="0" tIns="0" rIns="0" bIns="0" rtlCol="0" anchor="t"/>
          <a:lstStyle/>
          <a:p>
            <a:pPr algn="l" indent="0" marL="0">
              <a:buNone/>
            </a:pPr>
            <a:r>
              <a:rPr lang="en-US" sz="1050" dirty="0">
                <a:solidFill>
                  <a:srgbClr val="3D524C"/>
                </a:solidFill>
                <a:latin typeface="Calibri" pitchFamily="34" charset="0"/>
                <a:ea typeface="Calibri" pitchFamily="34" charset="-122"/>
                <a:cs typeface="Calibri" pitchFamily="34" charset="-120"/>
              </a:rPr>
              <a:t>AKUHN, PLOS One 2025 (demand peaks); PLOS One 2019 SMS meta-analysis; Homabay/Kisumu ANC studies and systematic reviews.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1E"/>
        </a:solidFill>
      </p:bgPr>
    </p:bg>
    <p:spTree>
      <p:nvGrpSpPr>
        <p:cNvPr id="1" name=""/>
        <p:cNvGrpSpPr/>
        <p:nvPr/>
      </p:nvGrpSpPr>
      <p:grpSpPr>
        <a:xfrm>
          <a:off x="0" y="0"/>
          <a:ext cx="0" cy="0"/>
          <a:chOff x="0" y="0"/>
          <a:chExt cx="0" cy="0"/>
        </a:xfrm>
      </p:grpSpPr>
      <p:sp>
        <p:nvSpPr>
          <p:cNvPr id="2" name="Text 0"/>
          <p:cNvSpPr/>
          <p:nvPr/>
        </p:nvSpPr>
        <p:spPr>
          <a:xfrm>
            <a:off x="731520" y="1554480"/>
            <a:ext cx="6766560" cy="1965960"/>
          </a:xfrm>
          <a:prstGeom prst="rect">
            <a:avLst/>
          </a:prstGeom>
          <a:noFill/>
          <a:ln/>
        </p:spPr>
        <p:txBody>
          <a:bodyPr wrap="square" lIns="0" tIns="0" rIns="0" bIns="0" rtlCol="0" anchor="t"/>
          <a:lstStyle/>
          <a:p>
            <a:pPr algn="l" indent="0" marL="0">
              <a:lnSpc>
                <a:spcPct val="105000"/>
              </a:lnSpc>
              <a:buNone/>
            </a:pPr>
            <a:r>
              <a:rPr lang="en-US" sz="5600" b="1" dirty="0">
                <a:solidFill>
                  <a:srgbClr val="F4F7F6"/>
                </a:solidFill>
                <a:latin typeface="Cambria" pitchFamily="34" charset="0"/>
                <a:ea typeface="Cambria" pitchFamily="34" charset="-122"/>
                <a:cs typeface="Cambria" pitchFamily="34" charset="-120"/>
              </a:rPr>
              <a:t>Sit before the door.</a:t>
            </a:r>
            <a:endParaRPr lang="en-US" sz="5600" dirty="0"/>
          </a:p>
        </p:txBody>
      </p:sp>
      <p:sp>
        <p:nvSpPr>
          <p:cNvPr id="3" name="Text 1"/>
          <p:cNvSpPr/>
          <p:nvPr/>
        </p:nvSpPr>
        <p:spPr>
          <a:xfrm>
            <a:off x="731520" y="3703320"/>
            <a:ext cx="6766560" cy="548640"/>
          </a:xfrm>
          <a:prstGeom prst="rect">
            <a:avLst/>
          </a:prstGeom>
          <a:noFill/>
          <a:ln/>
        </p:spPr>
        <p:txBody>
          <a:bodyPr wrap="square" lIns="0" tIns="0" rIns="0" bIns="0" rtlCol="0" anchor="t"/>
          <a:lstStyle/>
          <a:p>
            <a:pPr algn="l" indent="0" marL="0">
              <a:buNone/>
            </a:pPr>
            <a:r>
              <a:rPr lang="en-US" sz="2200" dirty="0">
                <a:solidFill>
                  <a:srgbClr val="C5D4CF"/>
                </a:solidFill>
                <a:latin typeface="Calibri" pitchFamily="34" charset="0"/>
                <a:ea typeface="Calibri" pitchFamily="34" charset="-122"/>
                <a:cs typeface="Calibri" pitchFamily="34" charset="-120"/>
              </a:rPr>
              <a:t>Next: county pilots and a 72-hour safety KPI.</a:t>
            </a:r>
            <a:endParaRPr lang="en-US" sz="2200" dirty="0"/>
          </a:p>
        </p:txBody>
      </p:sp>
      <p:sp>
        <p:nvSpPr>
          <p:cNvPr id="4" name="Text 2"/>
          <p:cNvSpPr/>
          <p:nvPr/>
        </p:nvSpPr>
        <p:spPr>
          <a:xfrm>
            <a:off x="731520" y="5760720"/>
            <a:ext cx="6766560" cy="320040"/>
          </a:xfrm>
          <a:prstGeom prst="rect">
            <a:avLst/>
          </a:prstGeom>
          <a:noFill/>
          <a:ln/>
        </p:spPr>
        <p:txBody>
          <a:bodyPr wrap="square" lIns="0" tIns="0" rIns="0" bIns="0" rtlCol="0" anchor="t"/>
          <a:lstStyle/>
          <a:p>
            <a:pPr algn="l" indent="0" marL="0">
              <a:buNone/>
            </a:pPr>
            <a:r>
              <a:rPr lang="en-US" sz="1250" spc="140" kern="0" dirty="0">
                <a:solidFill>
                  <a:srgbClr val="C5D4CF"/>
                </a:solidFill>
                <a:latin typeface="Calibri" pitchFamily="34" charset="0"/>
                <a:ea typeface="Calibri" pitchFamily="34" charset="-122"/>
                <a:cs typeface="Calibri" pitchFamily="34" charset="-120"/>
              </a:rPr>
              <a:t>CareFlow — Kenya hospital pretriage</a:t>
            </a:r>
            <a:endParaRPr lang="en-US" sz="1250" dirty="0"/>
          </a:p>
        </p:txBody>
      </p:sp>
      <p:sp>
        <p:nvSpPr>
          <p:cNvPr id="5" name="Shape 3"/>
          <p:cNvSpPr/>
          <p:nvPr/>
        </p:nvSpPr>
        <p:spPr>
          <a:xfrm>
            <a:off x="7955280" y="1691640"/>
            <a:ext cx="3566160" cy="1463040"/>
          </a:xfrm>
          <a:prstGeom prst="roundRect">
            <a:avLst>
              <a:gd name="adj" fmla="val 8750"/>
            </a:avLst>
          </a:prstGeom>
          <a:solidFill>
            <a:srgbClr val="0F5C4C"/>
          </a:solidFill>
          <a:ln/>
          <a:effectLst>
            <a:outerShdw sx="100000" sy="100000" kx="0" ky="0" algn="bl" rotWithShape="0" blurRad="127000" dist="25400" dir="5400000">
              <a:srgbClr val="14211e">
                <a:alpha val="10000"/>
              </a:srgbClr>
            </a:outerShdw>
          </a:effectLst>
        </p:spPr>
      </p:sp>
      <p:sp>
        <p:nvSpPr>
          <p:cNvPr id="6" name="Text 4"/>
          <p:cNvSpPr/>
          <p:nvPr/>
        </p:nvSpPr>
        <p:spPr>
          <a:xfrm>
            <a:off x="8229600" y="1892808"/>
            <a:ext cx="3017520" cy="329184"/>
          </a:xfrm>
          <a:prstGeom prst="rect">
            <a:avLst/>
          </a:prstGeom>
          <a:noFill/>
          <a:ln/>
        </p:spPr>
        <p:txBody>
          <a:bodyPr wrap="square" lIns="0" tIns="0" rIns="0" bIns="0" rtlCol="0" anchor="t"/>
          <a:lstStyle/>
          <a:p>
            <a:pPr algn="l" indent="0" marL="0">
              <a:buNone/>
            </a:pPr>
            <a:r>
              <a:rPr lang="en-US" sz="1700" b="1" dirty="0">
                <a:solidFill>
                  <a:srgbClr val="F4F7F6"/>
                </a:solidFill>
                <a:latin typeface="Calibri" pitchFamily="34" charset="0"/>
                <a:ea typeface="Calibri" pitchFamily="34" charset="-122"/>
                <a:cs typeface="Calibri" pitchFamily="34" charset="-120"/>
              </a:rPr>
              <a:t>County pilots</a:t>
            </a:r>
            <a:endParaRPr lang="en-US" sz="1700" dirty="0"/>
          </a:p>
        </p:txBody>
      </p:sp>
      <p:sp>
        <p:nvSpPr>
          <p:cNvPr id="7" name="Text 5"/>
          <p:cNvSpPr/>
          <p:nvPr/>
        </p:nvSpPr>
        <p:spPr>
          <a:xfrm>
            <a:off x="8229600" y="2276856"/>
            <a:ext cx="3017520" cy="731520"/>
          </a:xfrm>
          <a:prstGeom prst="rect">
            <a:avLst/>
          </a:prstGeom>
          <a:noFill/>
          <a:ln/>
        </p:spPr>
        <p:txBody>
          <a:bodyPr wrap="square" lIns="0" tIns="0" rIns="0" bIns="0" rtlCol="0" anchor="t"/>
          <a:lstStyle/>
          <a:p>
            <a:pPr algn="l" indent="0" marL="0">
              <a:lnSpc>
                <a:spcPct val="105000"/>
              </a:lnSpc>
              <a:buNone/>
            </a:pPr>
            <a:r>
              <a:rPr lang="en-US" sz="1150" dirty="0">
                <a:solidFill>
                  <a:srgbClr val="C5D4CF"/>
                </a:solidFill>
                <a:latin typeface="Calibri" pitchFamily="34" charset="0"/>
                <a:ea typeface="Calibri" pitchFamily="34" charset="-122"/>
                <a:cs typeface="Calibri" pitchFamily="34" charset="-120"/>
              </a:rPr>
              <a:t>Measure low-acuity load diverted from referral hospitals to ready Level 2–3 facilities</a:t>
            </a:r>
            <a:endParaRPr lang="en-US" sz="1150" dirty="0"/>
          </a:p>
        </p:txBody>
      </p:sp>
      <p:sp>
        <p:nvSpPr>
          <p:cNvPr id="8" name="Shape 6"/>
          <p:cNvSpPr/>
          <p:nvPr/>
        </p:nvSpPr>
        <p:spPr>
          <a:xfrm>
            <a:off x="7955280" y="3474720"/>
            <a:ext cx="3566160" cy="1463040"/>
          </a:xfrm>
          <a:prstGeom prst="roundRect">
            <a:avLst>
              <a:gd name="adj" fmla="val 8750"/>
            </a:avLst>
          </a:prstGeom>
          <a:solidFill>
            <a:srgbClr val="0F5C4C"/>
          </a:solidFill>
          <a:ln/>
          <a:effectLst>
            <a:outerShdw sx="100000" sy="100000" kx="0" ky="0" algn="bl" rotWithShape="0" blurRad="127000" dist="25400" dir="5400000">
              <a:srgbClr val="14211e">
                <a:alpha val="10000"/>
              </a:srgbClr>
            </a:outerShdw>
          </a:effectLst>
        </p:spPr>
      </p:sp>
      <p:sp>
        <p:nvSpPr>
          <p:cNvPr id="9" name="Text 7"/>
          <p:cNvSpPr/>
          <p:nvPr/>
        </p:nvSpPr>
        <p:spPr>
          <a:xfrm>
            <a:off x="8229600" y="3675888"/>
            <a:ext cx="3017520" cy="329184"/>
          </a:xfrm>
          <a:prstGeom prst="rect">
            <a:avLst/>
          </a:prstGeom>
          <a:noFill/>
          <a:ln/>
        </p:spPr>
        <p:txBody>
          <a:bodyPr wrap="square" lIns="0" tIns="0" rIns="0" bIns="0" rtlCol="0" anchor="t"/>
          <a:lstStyle/>
          <a:p>
            <a:pPr algn="l" indent="0" marL="0">
              <a:buNone/>
            </a:pPr>
            <a:r>
              <a:rPr lang="en-US" sz="1700" b="1" dirty="0">
                <a:solidFill>
                  <a:srgbClr val="F4F7F6"/>
                </a:solidFill>
                <a:latin typeface="Calibri" pitchFamily="34" charset="0"/>
                <a:ea typeface="Calibri" pitchFamily="34" charset="-122"/>
                <a:cs typeface="Calibri" pitchFamily="34" charset="-120"/>
              </a:rPr>
              <a:t>72-hour safety KPI</a:t>
            </a:r>
            <a:endParaRPr lang="en-US" sz="1700" dirty="0"/>
          </a:p>
        </p:txBody>
      </p:sp>
      <p:sp>
        <p:nvSpPr>
          <p:cNvPr id="10" name="Text 8"/>
          <p:cNvSpPr/>
          <p:nvPr/>
        </p:nvSpPr>
        <p:spPr>
          <a:xfrm>
            <a:off x="8229600" y="4059936"/>
            <a:ext cx="3017520" cy="731520"/>
          </a:xfrm>
          <a:prstGeom prst="rect">
            <a:avLst/>
          </a:prstGeom>
          <a:noFill/>
          <a:ln/>
        </p:spPr>
        <p:txBody>
          <a:bodyPr wrap="square" lIns="0" tIns="0" rIns="0" bIns="0" rtlCol="0" anchor="t"/>
          <a:lstStyle/>
          <a:p>
            <a:pPr algn="l" indent="0" marL="0">
              <a:lnSpc>
                <a:spcPct val="105000"/>
              </a:lnSpc>
              <a:buNone/>
            </a:pPr>
            <a:r>
              <a:rPr lang="en-US" sz="1150" dirty="0">
                <a:solidFill>
                  <a:srgbClr val="C5D4CF"/>
                </a:solidFill>
                <a:latin typeface="Calibri" pitchFamily="34" charset="0"/>
                <a:ea typeface="Calibri" pitchFamily="34" charset="-122"/>
                <a:cs typeface="Calibri" pitchFamily="34" charset="-120"/>
              </a:rPr>
              <a:t>Adverse outcomes after a routing decision — the metric the analog implies and Kenya has yet to test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CareFlow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CareFlow — Kenya hospital pretriage</dc:title>
  <dc:subject>PptxGenJS Presentation</dc:subject>
  <dc:creator>CareFlow</dc:creator>
  <cp:lastModifiedBy>CareFlow</cp:lastModifiedBy>
  <cp:revision>1</cp:revision>
  <dcterms:created xsi:type="dcterms:W3CDTF">2026-08-28T23:14:47Z</dcterms:created>
  <dcterms:modified xsi:type="dcterms:W3CDTF">2026-08-28T23:14:47Z</dcterms:modified>
</cp:coreProperties>
</file>